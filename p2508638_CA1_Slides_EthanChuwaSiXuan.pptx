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7" r:id="rId3"/>
    <p:sldId id="258" r:id="rId4"/>
    <p:sldId id="260" r:id="rId5"/>
    <p:sldId id="261" r:id="rId6"/>
    <p:sldId id="262" r:id="rId7"/>
    <p:sldId id="263" r:id="rId8"/>
    <p:sldId id="264" r:id="rId9"/>
    <p:sldId id="265" r:id="rId10"/>
    <p:sldId id="266"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73" autoAdjust="0"/>
  </p:normalViewPr>
  <p:slideViewPr>
    <p:cSldViewPr snapToGrid="0">
      <p:cViewPr varScale="1">
        <p:scale>
          <a:sx n="105" d="100"/>
          <a:sy n="105" d="100"/>
        </p:scale>
        <p:origin x="834" y="9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266A1FA-1111-4237-80D7-D7FEFD32AFA2}" type="datetimeFigureOut">
              <a:rPr lang="en-SG" smtClean="0"/>
              <a:t>30/11/2025</a:t>
            </a:fld>
            <a:endParaRPr lang="en-SG"/>
          </a:p>
        </p:txBody>
      </p:sp>
      <p:sp>
        <p:nvSpPr>
          <p:cNvPr id="5" name="Footer Placeholder 4"/>
          <p:cNvSpPr>
            <a:spLocks noGrp="1"/>
          </p:cNvSpPr>
          <p:nvPr>
            <p:ph type="ftr" sz="quarter" idx="11"/>
          </p:nvPr>
        </p:nvSpPr>
        <p:spPr/>
        <p:txBody>
          <a:bodyPr/>
          <a:lstStyle/>
          <a:p>
            <a:endParaRPr lang="en-SG"/>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4E31CF67-E46A-48A1-8906-DD9CC8317793}" type="slidenum">
              <a:rPr lang="en-SG" smtClean="0"/>
              <a:t>‹#›</a:t>
            </a:fld>
            <a:endParaRPr lang="en-SG"/>
          </a:p>
        </p:txBody>
      </p:sp>
    </p:spTree>
    <p:extLst>
      <p:ext uri="{BB962C8B-B14F-4D97-AF65-F5344CB8AC3E}">
        <p14:creationId xmlns:p14="http://schemas.microsoft.com/office/powerpoint/2010/main" val="10541791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266A1FA-1111-4237-80D7-D7FEFD32AFA2}" type="datetimeFigureOut">
              <a:rPr lang="en-SG" smtClean="0"/>
              <a:t>30/11/2025</a:t>
            </a:fld>
            <a:endParaRPr lang="en-SG"/>
          </a:p>
        </p:txBody>
      </p:sp>
      <p:sp>
        <p:nvSpPr>
          <p:cNvPr id="5" name="Footer Placeholder 4"/>
          <p:cNvSpPr>
            <a:spLocks noGrp="1"/>
          </p:cNvSpPr>
          <p:nvPr>
            <p:ph type="ftr" sz="quarter" idx="11"/>
          </p:nvPr>
        </p:nvSpPr>
        <p:spPr/>
        <p:txBody>
          <a:bodyPr/>
          <a:lstStyle/>
          <a:p>
            <a:endParaRPr lang="en-SG"/>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E31CF67-E46A-48A1-8906-DD9CC8317793}" type="slidenum">
              <a:rPr lang="en-SG" smtClean="0"/>
              <a:t>‹#›</a:t>
            </a:fld>
            <a:endParaRPr lang="en-SG"/>
          </a:p>
        </p:txBody>
      </p:sp>
    </p:spTree>
    <p:extLst>
      <p:ext uri="{BB962C8B-B14F-4D97-AF65-F5344CB8AC3E}">
        <p14:creationId xmlns:p14="http://schemas.microsoft.com/office/powerpoint/2010/main" val="10753333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266A1FA-1111-4237-80D7-D7FEFD32AFA2}" type="datetimeFigureOut">
              <a:rPr lang="en-SG" smtClean="0"/>
              <a:t>30/11/2025</a:t>
            </a:fld>
            <a:endParaRPr lang="en-SG"/>
          </a:p>
        </p:txBody>
      </p:sp>
      <p:sp>
        <p:nvSpPr>
          <p:cNvPr id="5" name="Footer Placeholder 4"/>
          <p:cNvSpPr>
            <a:spLocks noGrp="1"/>
          </p:cNvSpPr>
          <p:nvPr>
            <p:ph type="ftr" sz="quarter" idx="11"/>
          </p:nvPr>
        </p:nvSpPr>
        <p:spPr/>
        <p:txBody>
          <a:bodyPr/>
          <a:lstStyle/>
          <a:p>
            <a:endParaRPr lang="en-SG"/>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E31CF67-E46A-48A1-8906-DD9CC8317793}" type="slidenum">
              <a:rPr lang="en-SG" smtClean="0"/>
              <a:t>‹#›</a:t>
            </a:fld>
            <a:endParaRPr lang="en-SG"/>
          </a:p>
        </p:txBody>
      </p:sp>
    </p:spTree>
    <p:extLst>
      <p:ext uri="{BB962C8B-B14F-4D97-AF65-F5344CB8AC3E}">
        <p14:creationId xmlns:p14="http://schemas.microsoft.com/office/powerpoint/2010/main" val="27206962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266A1FA-1111-4237-80D7-D7FEFD32AFA2}" type="datetimeFigureOut">
              <a:rPr lang="en-SG" smtClean="0"/>
              <a:t>30/11/2025</a:t>
            </a:fld>
            <a:endParaRPr lang="en-SG"/>
          </a:p>
        </p:txBody>
      </p:sp>
      <p:sp>
        <p:nvSpPr>
          <p:cNvPr id="6" name="Footer Placeholder 5"/>
          <p:cNvSpPr>
            <a:spLocks noGrp="1"/>
          </p:cNvSpPr>
          <p:nvPr>
            <p:ph type="ftr" sz="quarter" idx="11"/>
          </p:nvPr>
        </p:nvSpPr>
        <p:spPr/>
        <p:txBody>
          <a:bodyPr/>
          <a:lstStyle/>
          <a:p>
            <a:endParaRPr lang="en-SG"/>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4E31CF67-E46A-48A1-8906-DD9CC8317793}" type="slidenum">
              <a:rPr lang="en-SG" smtClean="0"/>
              <a:t>‹#›</a:t>
            </a:fld>
            <a:endParaRPr lang="en-SG"/>
          </a:p>
        </p:txBody>
      </p:sp>
    </p:spTree>
    <p:extLst>
      <p:ext uri="{BB962C8B-B14F-4D97-AF65-F5344CB8AC3E}">
        <p14:creationId xmlns:p14="http://schemas.microsoft.com/office/powerpoint/2010/main" val="12983524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266A1FA-1111-4237-80D7-D7FEFD32AFA2}" type="datetimeFigureOut">
              <a:rPr lang="en-SG" smtClean="0"/>
              <a:t>30/11/2025</a:t>
            </a:fld>
            <a:endParaRPr lang="en-SG"/>
          </a:p>
        </p:txBody>
      </p:sp>
      <p:sp>
        <p:nvSpPr>
          <p:cNvPr id="8" name="Footer Placeholder 7"/>
          <p:cNvSpPr>
            <a:spLocks noGrp="1"/>
          </p:cNvSpPr>
          <p:nvPr>
            <p:ph type="ftr" sz="quarter" idx="11"/>
          </p:nvPr>
        </p:nvSpPr>
        <p:spPr/>
        <p:txBody>
          <a:bodyPr/>
          <a:lstStyle/>
          <a:p>
            <a:endParaRPr lang="en-SG"/>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4E31CF67-E46A-48A1-8906-DD9CC8317793}" type="slidenum">
              <a:rPr lang="en-SG" smtClean="0"/>
              <a:t>‹#›</a:t>
            </a:fld>
            <a:endParaRPr lang="en-SG"/>
          </a:p>
        </p:txBody>
      </p:sp>
    </p:spTree>
    <p:extLst>
      <p:ext uri="{BB962C8B-B14F-4D97-AF65-F5344CB8AC3E}">
        <p14:creationId xmlns:p14="http://schemas.microsoft.com/office/powerpoint/2010/main" val="23287562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266A1FA-1111-4237-80D7-D7FEFD32AFA2}" type="datetimeFigureOut">
              <a:rPr lang="en-SG" smtClean="0"/>
              <a:t>30/11/2025</a:t>
            </a:fld>
            <a:endParaRPr lang="en-SG"/>
          </a:p>
        </p:txBody>
      </p:sp>
      <p:sp>
        <p:nvSpPr>
          <p:cNvPr id="4" name="Footer Placeholder 3"/>
          <p:cNvSpPr>
            <a:spLocks noGrp="1"/>
          </p:cNvSpPr>
          <p:nvPr>
            <p:ph type="ftr" sz="quarter" idx="11"/>
          </p:nvPr>
        </p:nvSpPr>
        <p:spPr/>
        <p:txBody>
          <a:bodyPr/>
          <a:lstStyle/>
          <a:p>
            <a:endParaRPr lang="en-SG"/>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4E31CF67-E46A-48A1-8906-DD9CC8317793}" type="slidenum">
              <a:rPr lang="en-SG" smtClean="0"/>
              <a:t>‹#›</a:t>
            </a:fld>
            <a:endParaRPr lang="en-SG"/>
          </a:p>
        </p:txBody>
      </p:sp>
    </p:spTree>
    <p:extLst>
      <p:ext uri="{BB962C8B-B14F-4D97-AF65-F5344CB8AC3E}">
        <p14:creationId xmlns:p14="http://schemas.microsoft.com/office/powerpoint/2010/main" val="2322188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66A1FA-1111-4237-80D7-D7FEFD32AFA2}" type="datetimeFigureOut">
              <a:rPr lang="en-SG" smtClean="0"/>
              <a:t>30/11/2025</a:t>
            </a:fld>
            <a:endParaRPr lang="en-SG"/>
          </a:p>
        </p:txBody>
      </p:sp>
      <p:sp>
        <p:nvSpPr>
          <p:cNvPr id="3" name="Footer Placeholder 2"/>
          <p:cNvSpPr>
            <a:spLocks noGrp="1"/>
          </p:cNvSpPr>
          <p:nvPr>
            <p:ph type="ftr" sz="quarter" idx="11"/>
          </p:nvPr>
        </p:nvSpPr>
        <p:spPr/>
        <p:txBody>
          <a:bodyPr/>
          <a:lstStyle/>
          <a:p>
            <a:endParaRPr lang="en-SG"/>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4E31CF67-E46A-48A1-8906-DD9CC8317793}" type="slidenum">
              <a:rPr lang="en-SG" smtClean="0"/>
              <a:t>‹#›</a:t>
            </a:fld>
            <a:endParaRPr lang="en-SG"/>
          </a:p>
        </p:txBody>
      </p:sp>
    </p:spTree>
    <p:extLst>
      <p:ext uri="{BB962C8B-B14F-4D97-AF65-F5344CB8AC3E}">
        <p14:creationId xmlns:p14="http://schemas.microsoft.com/office/powerpoint/2010/main" val="27926547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266A1FA-1111-4237-80D7-D7FEFD32AFA2}" type="datetimeFigureOut">
              <a:rPr lang="en-SG" smtClean="0"/>
              <a:t>30/11/2025</a:t>
            </a:fld>
            <a:endParaRPr lang="en-SG"/>
          </a:p>
        </p:txBody>
      </p:sp>
      <p:sp>
        <p:nvSpPr>
          <p:cNvPr id="6" name="Footer Placeholder 5"/>
          <p:cNvSpPr>
            <a:spLocks noGrp="1"/>
          </p:cNvSpPr>
          <p:nvPr>
            <p:ph type="ftr" sz="quarter" idx="11"/>
          </p:nvPr>
        </p:nvSpPr>
        <p:spPr/>
        <p:txBody>
          <a:bodyPr/>
          <a:lstStyle/>
          <a:p>
            <a:endParaRPr lang="en-SG"/>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4E31CF67-E46A-48A1-8906-DD9CC8317793}" type="slidenum">
              <a:rPr lang="en-SG" smtClean="0"/>
              <a:t>‹#›</a:t>
            </a:fld>
            <a:endParaRPr lang="en-SG"/>
          </a:p>
        </p:txBody>
      </p:sp>
    </p:spTree>
    <p:extLst>
      <p:ext uri="{BB962C8B-B14F-4D97-AF65-F5344CB8AC3E}">
        <p14:creationId xmlns:p14="http://schemas.microsoft.com/office/powerpoint/2010/main" val="27583114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266A1FA-1111-4237-80D7-D7FEFD32AFA2}" type="datetimeFigureOut">
              <a:rPr lang="en-SG" smtClean="0"/>
              <a:t>30/11/2025</a:t>
            </a:fld>
            <a:endParaRPr lang="en-SG"/>
          </a:p>
        </p:txBody>
      </p:sp>
      <p:sp>
        <p:nvSpPr>
          <p:cNvPr id="6" name="Footer Placeholder 5"/>
          <p:cNvSpPr>
            <a:spLocks noGrp="1"/>
          </p:cNvSpPr>
          <p:nvPr>
            <p:ph type="ftr" sz="quarter" idx="11"/>
          </p:nvPr>
        </p:nvSpPr>
        <p:spPr/>
        <p:txBody>
          <a:bodyPr/>
          <a:lstStyle/>
          <a:p>
            <a:endParaRPr lang="en-SG"/>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E31CF67-E46A-48A1-8906-DD9CC8317793}" type="slidenum">
              <a:rPr lang="en-SG" smtClean="0"/>
              <a:t>‹#›</a:t>
            </a:fld>
            <a:endParaRPr lang="en-SG"/>
          </a:p>
        </p:txBody>
      </p:sp>
    </p:spTree>
    <p:extLst>
      <p:ext uri="{BB962C8B-B14F-4D97-AF65-F5344CB8AC3E}">
        <p14:creationId xmlns:p14="http://schemas.microsoft.com/office/powerpoint/2010/main" val="28590465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266A1FA-1111-4237-80D7-D7FEFD32AFA2}" type="datetimeFigureOut">
              <a:rPr lang="en-SG" smtClean="0"/>
              <a:t>30/11/2025</a:t>
            </a:fld>
            <a:endParaRPr lang="en-SG"/>
          </a:p>
        </p:txBody>
      </p:sp>
      <p:sp>
        <p:nvSpPr>
          <p:cNvPr id="5" name="Footer Placeholder 4"/>
          <p:cNvSpPr>
            <a:spLocks noGrp="1"/>
          </p:cNvSpPr>
          <p:nvPr>
            <p:ph type="ftr" sz="quarter" idx="11"/>
          </p:nvPr>
        </p:nvSpPr>
        <p:spPr/>
        <p:txBody>
          <a:bodyPr/>
          <a:lstStyle/>
          <a:p>
            <a:endParaRPr lang="en-SG"/>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E31CF67-E46A-48A1-8906-DD9CC8317793}" type="slidenum">
              <a:rPr lang="en-SG" smtClean="0"/>
              <a:t>‹#›</a:t>
            </a:fld>
            <a:endParaRPr lang="en-SG"/>
          </a:p>
        </p:txBody>
      </p:sp>
    </p:spTree>
    <p:extLst>
      <p:ext uri="{BB962C8B-B14F-4D97-AF65-F5344CB8AC3E}">
        <p14:creationId xmlns:p14="http://schemas.microsoft.com/office/powerpoint/2010/main" val="3453013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266A1FA-1111-4237-80D7-D7FEFD32AFA2}" type="datetimeFigureOut">
              <a:rPr lang="en-SG" smtClean="0"/>
              <a:t>30/11/2025</a:t>
            </a:fld>
            <a:endParaRPr lang="en-SG"/>
          </a:p>
        </p:txBody>
      </p:sp>
      <p:sp>
        <p:nvSpPr>
          <p:cNvPr id="5" name="Footer Placeholder 4"/>
          <p:cNvSpPr>
            <a:spLocks noGrp="1"/>
          </p:cNvSpPr>
          <p:nvPr>
            <p:ph type="ftr" sz="quarter" idx="11"/>
          </p:nvPr>
        </p:nvSpPr>
        <p:spPr/>
        <p:txBody>
          <a:bodyPr/>
          <a:lstStyle/>
          <a:p>
            <a:endParaRPr lang="en-SG"/>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E31CF67-E46A-48A1-8906-DD9CC8317793}" type="slidenum">
              <a:rPr lang="en-SG" smtClean="0"/>
              <a:t>‹#›</a:t>
            </a:fld>
            <a:endParaRPr lang="en-SG"/>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5330045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C266A1FA-1111-4237-80D7-D7FEFD32AFA2}" type="datetimeFigureOut">
              <a:rPr lang="en-SG" smtClean="0"/>
              <a:t>30/11/2025</a:t>
            </a:fld>
            <a:endParaRPr lang="en-SG"/>
          </a:p>
        </p:txBody>
      </p:sp>
      <p:sp>
        <p:nvSpPr>
          <p:cNvPr id="6" name="Footer Placeholder 5"/>
          <p:cNvSpPr>
            <a:spLocks noGrp="1"/>
          </p:cNvSpPr>
          <p:nvPr>
            <p:ph type="ftr" sz="quarter" idx="11"/>
          </p:nvPr>
        </p:nvSpPr>
        <p:spPr/>
        <p:txBody>
          <a:bodyPr/>
          <a:lstStyle/>
          <a:p>
            <a:endParaRPr lang="en-SG"/>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E31CF67-E46A-48A1-8906-DD9CC8317793}" type="slidenum">
              <a:rPr lang="en-SG" smtClean="0"/>
              <a:t>‹#›</a:t>
            </a:fld>
            <a:endParaRPr lang="en-SG"/>
          </a:p>
        </p:txBody>
      </p:sp>
    </p:spTree>
    <p:extLst>
      <p:ext uri="{BB962C8B-B14F-4D97-AF65-F5344CB8AC3E}">
        <p14:creationId xmlns:p14="http://schemas.microsoft.com/office/powerpoint/2010/main" val="13408027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C266A1FA-1111-4237-80D7-D7FEFD32AFA2}" type="datetimeFigureOut">
              <a:rPr lang="en-SG" smtClean="0"/>
              <a:t>30/11/2025</a:t>
            </a:fld>
            <a:endParaRPr lang="en-SG"/>
          </a:p>
        </p:txBody>
      </p:sp>
      <p:sp>
        <p:nvSpPr>
          <p:cNvPr id="6" name="Footer Placeholder 5"/>
          <p:cNvSpPr>
            <a:spLocks noGrp="1"/>
          </p:cNvSpPr>
          <p:nvPr>
            <p:ph type="ftr" sz="quarter" idx="11"/>
          </p:nvPr>
        </p:nvSpPr>
        <p:spPr/>
        <p:txBody>
          <a:bodyPr/>
          <a:lstStyle/>
          <a:p>
            <a:endParaRPr lang="en-SG"/>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E31CF67-E46A-48A1-8906-DD9CC8317793}" type="slidenum">
              <a:rPr lang="en-SG" smtClean="0"/>
              <a:t>‹#›</a:t>
            </a:fld>
            <a:endParaRPr lang="en-SG"/>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9262744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C266A1FA-1111-4237-80D7-D7FEFD32AFA2}" type="datetimeFigureOut">
              <a:rPr lang="en-SG" smtClean="0"/>
              <a:t>30/11/2025</a:t>
            </a:fld>
            <a:endParaRPr lang="en-SG"/>
          </a:p>
        </p:txBody>
      </p:sp>
      <p:sp>
        <p:nvSpPr>
          <p:cNvPr id="6" name="Footer Placeholder 5"/>
          <p:cNvSpPr>
            <a:spLocks noGrp="1"/>
          </p:cNvSpPr>
          <p:nvPr>
            <p:ph type="ftr" sz="quarter" idx="11"/>
          </p:nvPr>
        </p:nvSpPr>
        <p:spPr/>
        <p:txBody>
          <a:bodyPr/>
          <a:lstStyle/>
          <a:p>
            <a:endParaRPr lang="en-SG"/>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E31CF67-E46A-48A1-8906-DD9CC8317793}" type="slidenum">
              <a:rPr lang="en-SG" smtClean="0"/>
              <a:t>‹#›</a:t>
            </a:fld>
            <a:endParaRPr lang="en-SG"/>
          </a:p>
        </p:txBody>
      </p:sp>
    </p:spTree>
    <p:extLst>
      <p:ext uri="{BB962C8B-B14F-4D97-AF65-F5344CB8AC3E}">
        <p14:creationId xmlns:p14="http://schemas.microsoft.com/office/powerpoint/2010/main" val="21279569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266A1FA-1111-4237-80D7-D7FEFD32AFA2}" type="datetimeFigureOut">
              <a:rPr lang="en-SG" smtClean="0"/>
              <a:t>30/11/2025</a:t>
            </a:fld>
            <a:endParaRPr lang="en-SG"/>
          </a:p>
        </p:txBody>
      </p:sp>
      <p:sp>
        <p:nvSpPr>
          <p:cNvPr id="5" name="Footer Placeholder 4"/>
          <p:cNvSpPr>
            <a:spLocks noGrp="1"/>
          </p:cNvSpPr>
          <p:nvPr>
            <p:ph type="ftr" sz="quarter" idx="11"/>
          </p:nvPr>
        </p:nvSpPr>
        <p:spPr/>
        <p:txBody>
          <a:bodyPr/>
          <a:lstStyle/>
          <a:p>
            <a:endParaRPr lang="en-SG"/>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E31CF67-E46A-48A1-8906-DD9CC8317793}" type="slidenum">
              <a:rPr lang="en-SG" smtClean="0"/>
              <a:t>‹#›</a:t>
            </a:fld>
            <a:endParaRPr lang="en-SG"/>
          </a:p>
        </p:txBody>
      </p:sp>
    </p:spTree>
    <p:extLst>
      <p:ext uri="{BB962C8B-B14F-4D97-AF65-F5344CB8AC3E}">
        <p14:creationId xmlns:p14="http://schemas.microsoft.com/office/powerpoint/2010/main" val="13657289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266A1FA-1111-4237-80D7-D7FEFD32AFA2}" type="datetimeFigureOut">
              <a:rPr lang="en-SG" smtClean="0"/>
              <a:t>30/11/2025</a:t>
            </a:fld>
            <a:endParaRPr lang="en-SG"/>
          </a:p>
        </p:txBody>
      </p:sp>
      <p:sp>
        <p:nvSpPr>
          <p:cNvPr id="5" name="Footer Placeholder 4"/>
          <p:cNvSpPr>
            <a:spLocks noGrp="1"/>
          </p:cNvSpPr>
          <p:nvPr>
            <p:ph type="ftr" sz="quarter" idx="11"/>
          </p:nvPr>
        </p:nvSpPr>
        <p:spPr/>
        <p:txBody>
          <a:bodyPr/>
          <a:lstStyle/>
          <a:p>
            <a:endParaRPr lang="en-SG"/>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E31CF67-E46A-48A1-8906-DD9CC8317793}" type="slidenum">
              <a:rPr lang="en-SG" smtClean="0"/>
              <a:t>‹#›</a:t>
            </a:fld>
            <a:endParaRPr lang="en-SG"/>
          </a:p>
        </p:txBody>
      </p:sp>
    </p:spTree>
    <p:extLst>
      <p:ext uri="{BB962C8B-B14F-4D97-AF65-F5344CB8AC3E}">
        <p14:creationId xmlns:p14="http://schemas.microsoft.com/office/powerpoint/2010/main" val="7715203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C266A1FA-1111-4237-80D7-D7FEFD32AFA2}" type="datetimeFigureOut">
              <a:rPr lang="en-SG" smtClean="0"/>
              <a:t>30/11/2025</a:t>
            </a:fld>
            <a:endParaRPr lang="en-SG"/>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SG"/>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4E31CF67-E46A-48A1-8906-DD9CC8317793}" type="slidenum">
              <a:rPr lang="en-SG" smtClean="0"/>
              <a:t>‹#›</a:t>
            </a:fld>
            <a:endParaRPr lang="en-SG"/>
          </a:p>
        </p:txBody>
      </p:sp>
    </p:spTree>
    <p:extLst>
      <p:ext uri="{BB962C8B-B14F-4D97-AF65-F5344CB8AC3E}">
        <p14:creationId xmlns:p14="http://schemas.microsoft.com/office/powerpoint/2010/main" val="2850630131"/>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0A4010-1906-0F64-DA60-128862F43661}"/>
              </a:ext>
            </a:extLst>
          </p:cNvPr>
          <p:cNvSpPr>
            <a:spLocks noGrp="1"/>
          </p:cNvSpPr>
          <p:nvPr>
            <p:ph type="ctrTitle"/>
          </p:nvPr>
        </p:nvSpPr>
        <p:spPr>
          <a:xfrm>
            <a:off x="1638300" y="1166219"/>
            <a:ext cx="8915399" cy="2262781"/>
          </a:xfrm>
        </p:spPr>
        <p:txBody>
          <a:bodyPr>
            <a:normAutofit/>
          </a:bodyPr>
          <a:lstStyle/>
          <a:p>
            <a:pPr algn="ctr"/>
            <a:r>
              <a:rPr lang="en-SG" dirty="0"/>
              <a:t>ST1511 CA1: Machine Learning Workflow</a:t>
            </a:r>
          </a:p>
        </p:txBody>
      </p:sp>
      <p:sp>
        <p:nvSpPr>
          <p:cNvPr id="3" name="Subtitle 2">
            <a:extLst>
              <a:ext uri="{FF2B5EF4-FFF2-40B4-BE49-F238E27FC236}">
                <a16:creationId xmlns:a16="http://schemas.microsoft.com/office/drawing/2014/main" id="{F20B5BCA-6CE4-1101-50B4-272E130D560B}"/>
              </a:ext>
            </a:extLst>
          </p:cNvPr>
          <p:cNvSpPr>
            <a:spLocks noGrp="1"/>
          </p:cNvSpPr>
          <p:nvPr>
            <p:ph type="subTitle" idx="1"/>
          </p:nvPr>
        </p:nvSpPr>
        <p:spPr>
          <a:xfrm>
            <a:off x="1638300" y="3429000"/>
            <a:ext cx="8915399" cy="1126283"/>
          </a:xfrm>
        </p:spPr>
        <p:txBody>
          <a:bodyPr>
            <a:noAutofit/>
          </a:bodyPr>
          <a:lstStyle/>
          <a:p>
            <a:pPr algn="ctr"/>
            <a:r>
              <a:rPr lang="en-SG" sz="1600" dirty="0"/>
              <a:t>Part A: Machine Status Classification</a:t>
            </a:r>
          </a:p>
          <a:p>
            <a:pPr algn="ctr"/>
            <a:r>
              <a:rPr lang="en-SG" sz="1600" dirty="0"/>
              <a:t>Part B: Housing Price Regression</a:t>
            </a:r>
          </a:p>
          <a:p>
            <a:pPr algn="ctr"/>
            <a:r>
              <a:rPr lang="en-SG" sz="1600" dirty="0"/>
              <a:t>Name: Ethan Chuwa Si Xuan</a:t>
            </a:r>
          </a:p>
          <a:p>
            <a:pPr algn="ctr"/>
            <a:r>
              <a:rPr lang="en-SG" sz="1600" dirty="0" err="1"/>
              <a:t>AdminNo</a:t>
            </a:r>
            <a:r>
              <a:rPr lang="en-SG" sz="1600" dirty="0"/>
              <a:t>: P2508638</a:t>
            </a:r>
          </a:p>
          <a:p>
            <a:pPr algn="ctr"/>
            <a:r>
              <a:rPr lang="en-SG" sz="1600" dirty="0"/>
              <a:t>Class: DAAA/FT/1B/04</a:t>
            </a:r>
          </a:p>
        </p:txBody>
      </p:sp>
    </p:spTree>
    <p:extLst>
      <p:ext uri="{BB962C8B-B14F-4D97-AF65-F5344CB8AC3E}">
        <p14:creationId xmlns:p14="http://schemas.microsoft.com/office/powerpoint/2010/main" val="29653943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AF53D0-AE62-066E-7E58-8AC9B41F8BCB}"/>
              </a:ext>
            </a:extLst>
          </p:cNvPr>
          <p:cNvSpPr>
            <a:spLocks noGrp="1"/>
          </p:cNvSpPr>
          <p:nvPr>
            <p:ph type="title"/>
          </p:nvPr>
        </p:nvSpPr>
        <p:spPr>
          <a:xfrm>
            <a:off x="1640156" y="0"/>
            <a:ext cx="8911687" cy="475488"/>
          </a:xfrm>
        </p:spPr>
        <p:txBody>
          <a:bodyPr>
            <a:normAutofit/>
          </a:bodyPr>
          <a:lstStyle/>
          <a:p>
            <a:pPr algn="ctr"/>
            <a:r>
              <a:rPr lang="en-SG" sz="1800" dirty="0"/>
              <a:t>Problem Definition and Tasks</a:t>
            </a:r>
          </a:p>
        </p:txBody>
      </p:sp>
      <p:sp>
        <p:nvSpPr>
          <p:cNvPr id="3" name="Content Placeholder 2">
            <a:extLst>
              <a:ext uri="{FF2B5EF4-FFF2-40B4-BE49-F238E27FC236}">
                <a16:creationId xmlns:a16="http://schemas.microsoft.com/office/drawing/2014/main" id="{A4ED8091-8206-9C28-9906-0814EEE24E6D}"/>
              </a:ext>
            </a:extLst>
          </p:cNvPr>
          <p:cNvSpPr>
            <a:spLocks noGrp="1"/>
          </p:cNvSpPr>
          <p:nvPr>
            <p:ph idx="1"/>
          </p:nvPr>
        </p:nvSpPr>
        <p:spPr>
          <a:xfrm>
            <a:off x="1640156" y="978408"/>
            <a:ext cx="4455844" cy="6382512"/>
          </a:xfrm>
        </p:spPr>
        <p:txBody>
          <a:bodyPr>
            <a:normAutofit/>
          </a:bodyPr>
          <a:lstStyle/>
          <a:p>
            <a:pPr>
              <a:buNone/>
            </a:pPr>
            <a:r>
              <a:rPr lang="en-SG" sz="1600" b="1" dirty="0"/>
              <a:t>Part A: Machine Status Classification</a:t>
            </a:r>
          </a:p>
          <a:p>
            <a:pPr>
              <a:buFont typeface="Arial" panose="020B0604020202020204" pitchFamily="34" charset="0"/>
              <a:buChar char="•"/>
            </a:pPr>
            <a:r>
              <a:rPr lang="en-SG" sz="1600" dirty="0"/>
              <a:t>Predict whether a machine is </a:t>
            </a:r>
            <a:r>
              <a:rPr lang="en-SG" sz="1600" b="1" dirty="0"/>
              <a:t>Normal (0)</a:t>
            </a:r>
            <a:r>
              <a:rPr lang="en-SG" sz="1600" dirty="0"/>
              <a:t> or </a:t>
            </a:r>
            <a:r>
              <a:rPr lang="en-SG" sz="1600" b="1" dirty="0"/>
              <a:t>Abnormal (1)</a:t>
            </a:r>
            <a:r>
              <a:rPr lang="en-SG" sz="1600" dirty="0"/>
              <a:t> using sensor data</a:t>
            </a:r>
          </a:p>
          <a:p>
            <a:pPr>
              <a:buFont typeface="Arial" panose="020B0604020202020204" pitchFamily="34" charset="0"/>
              <a:buChar char="•"/>
            </a:pPr>
            <a:r>
              <a:rPr lang="en-SG" sz="1600" b="1" dirty="0"/>
              <a:t>Task Type:</a:t>
            </a:r>
            <a:r>
              <a:rPr lang="en-SG" sz="1600" dirty="0"/>
              <a:t> Binary Classification</a:t>
            </a:r>
          </a:p>
          <a:p>
            <a:pPr>
              <a:buFont typeface="Arial" panose="020B0604020202020204" pitchFamily="34" charset="0"/>
              <a:buChar char="•"/>
            </a:pPr>
            <a:r>
              <a:rPr lang="en-SG" sz="1600" b="1" dirty="0"/>
              <a:t>Target Variable:</a:t>
            </a:r>
            <a:r>
              <a:rPr lang="en-SG" sz="1600" dirty="0"/>
              <a:t> </a:t>
            </a:r>
            <a:r>
              <a:rPr lang="en-SG" sz="1600" i="1" dirty="0"/>
              <a:t>Machine Status</a:t>
            </a:r>
            <a:endParaRPr lang="en-SG" sz="1600" dirty="0"/>
          </a:p>
          <a:p>
            <a:pPr>
              <a:buFont typeface="Arial" panose="020B0604020202020204" pitchFamily="34" charset="0"/>
              <a:buChar char="•"/>
            </a:pPr>
            <a:r>
              <a:rPr lang="en-SG" sz="1600" b="1" dirty="0"/>
              <a:t>Main Metric:</a:t>
            </a:r>
            <a:r>
              <a:rPr lang="en-SG" sz="1600" dirty="0"/>
              <a:t> </a:t>
            </a:r>
            <a:r>
              <a:rPr lang="en-SG" sz="1600" b="1" dirty="0"/>
              <a:t>Recall (Class 1)</a:t>
            </a:r>
            <a:r>
              <a:rPr lang="en-SG" sz="1600" dirty="0"/>
              <a:t> → prioritises detecting faulty machines</a:t>
            </a:r>
          </a:p>
          <a:p>
            <a:pPr>
              <a:buFont typeface="Arial" panose="020B0604020202020204" pitchFamily="34" charset="0"/>
              <a:buChar char="•"/>
            </a:pPr>
            <a:r>
              <a:rPr lang="en-SG" sz="1600" dirty="0"/>
              <a:t>Other metrics used: F1-score, Precision, Accuracy, ROC-AUC</a:t>
            </a:r>
          </a:p>
          <a:p>
            <a:pPr>
              <a:buNone/>
            </a:pPr>
            <a:r>
              <a:rPr lang="en-SG" sz="1600" b="1" dirty="0"/>
              <a:t>Why Recall:</a:t>
            </a:r>
            <a:br>
              <a:rPr lang="en-SG" sz="1600" dirty="0"/>
            </a:br>
            <a:r>
              <a:rPr lang="en-SG" sz="1600" dirty="0"/>
              <a:t>Missing a faulty machine (FN) is costly hence we will focus on detecting all faults.</a:t>
            </a:r>
          </a:p>
          <a:p>
            <a:endParaRPr lang="en-SG" dirty="0"/>
          </a:p>
        </p:txBody>
      </p:sp>
      <p:sp>
        <p:nvSpPr>
          <p:cNvPr id="9" name="Content Placeholder 2">
            <a:extLst>
              <a:ext uri="{FF2B5EF4-FFF2-40B4-BE49-F238E27FC236}">
                <a16:creationId xmlns:a16="http://schemas.microsoft.com/office/drawing/2014/main" id="{47C7ABFD-3129-1B5B-614D-C66970BEE737}"/>
              </a:ext>
            </a:extLst>
          </p:cNvPr>
          <p:cNvSpPr txBox="1">
            <a:spLocks/>
          </p:cNvSpPr>
          <p:nvPr/>
        </p:nvSpPr>
        <p:spPr>
          <a:xfrm>
            <a:off x="6095999" y="978408"/>
            <a:ext cx="4455844" cy="617220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a:buFont typeface="Wingdings 3" charset="2"/>
              <a:buNone/>
            </a:pPr>
            <a:r>
              <a:rPr lang="en-SG" sz="1600" b="1" dirty="0"/>
              <a:t>Part B: Housing Price Prediction</a:t>
            </a:r>
          </a:p>
          <a:p>
            <a:pPr>
              <a:buFont typeface="Arial" panose="020B0604020202020204" pitchFamily="34" charset="0"/>
              <a:buChar char="•"/>
            </a:pPr>
            <a:r>
              <a:rPr lang="en-SG" sz="1600" dirty="0"/>
              <a:t>Predict House sale price ($) from numerical and categorical property features</a:t>
            </a:r>
          </a:p>
          <a:p>
            <a:pPr>
              <a:buFont typeface="Arial" panose="020B0604020202020204" pitchFamily="34" charset="0"/>
              <a:buChar char="•"/>
            </a:pPr>
            <a:r>
              <a:rPr lang="en-SG" sz="1600" b="1" dirty="0"/>
              <a:t>Task Type:</a:t>
            </a:r>
            <a:r>
              <a:rPr lang="en-SG" sz="1600" dirty="0"/>
              <a:t> Regression</a:t>
            </a:r>
          </a:p>
          <a:p>
            <a:pPr>
              <a:buFont typeface="Arial" panose="020B0604020202020204" pitchFamily="34" charset="0"/>
              <a:buChar char="•"/>
            </a:pPr>
            <a:r>
              <a:rPr lang="en-SG" sz="1600" b="1" dirty="0"/>
              <a:t>Target Variable:</a:t>
            </a:r>
            <a:r>
              <a:rPr lang="en-SG" sz="1600" dirty="0"/>
              <a:t> </a:t>
            </a:r>
            <a:r>
              <a:rPr lang="en-SG" sz="1600" i="1" dirty="0"/>
              <a:t>Price ($)</a:t>
            </a:r>
            <a:endParaRPr lang="en-SG" sz="1600" dirty="0"/>
          </a:p>
          <a:p>
            <a:pPr>
              <a:buFont typeface="Arial" panose="020B0604020202020204" pitchFamily="34" charset="0"/>
              <a:buChar char="•"/>
            </a:pPr>
            <a:r>
              <a:rPr lang="en-SG" sz="1600" b="1" dirty="0"/>
              <a:t>Main Metric:</a:t>
            </a:r>
            <a:r>
              <a:rPr lang="en-SG" sz="1600" dirty="0"/>
              <a:t> </a:t>
            </a:r>
            <a:r>
              <a:rPr lang="en-US" sz="1600" b="1" dirty="0"/>
              <a:t>MAPE (%)</a:t>
            </a:r>
            <a:r>
              <a:rPr lang="en-US" sz="1600" dirty="0"/>
              <a:t> → interpretable %, fair across price ranges</a:t>
            </a:r>
          </a:p>
          <a:p>
            <a:pPr>
              <a:buFont typeface="Arial" panose="020B0604020202020204" pitchFamily="34" charset="0"/>
              <a:buChar char="•"/>
            </a:pPr>
            <a:r>
              <a:rPr lang="en-SG" sz="1600" dirty="0"/>
              <a:t>Other metrics used: MAE, RMSE, R²</a:t>
            </a:r>
          </a:p>
          <a:p>
            <a:pPr marL="0" indent="0">
              <a:buNone/>
            </a:pPr>
            <a:r>
              <a:rPr lang="en-SG" sz="1600" b="1" dirty="0"/>
              <a:t>Why MAPE:</a:t>
            </a:r>
            <a:br>
              <a:rPr lang="en-SG" sz="1600" dirty="0"/>
            </a:br>
            <a:r>
              <a:rPr lang="en-SG" sz="1600" dirty="0"/>
              <a:t>	</a:t>
            </a:r>
            <a:r>
              <a:rPr lang="en-US" sz="1600" dirty="0"/>
              <a:t>Allows error comparison across cheap 	vs expensive houses.</a:t>
            </a:r>
            <a:endParaRPr lang="en-SG" sz="1600" dirty="0"/>
          </a:p>
          <a:p>
            <a:endParaRPr lang="en-SG" dirty="0"/>
          </a:p>
        </p:txBody>
      </p:sp>
    </p:spTree>
    <p:extLst>
      <p:ext uri="{BB962C8B-B14F-4D97-AF65-F5344CB8AC3E}">
        <p14:creationId xmlns:p14="http://schemas.microsoft.com/office/powerpoint/2010/main" val="42236653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A0B6E3-7272-B0C5-AE5A-23C1DA012A1E}"/>
              </a:ext>
            </a:extLst>
          </p:cNvPr>
          <p:cNvSpPr>
            <a:spLocks noGrp="1"/>
          </p:cNvSpPr>
          <p:nvPr>
            <p:ph type="title"/>
          </p:nvPr>
        </p:nvSpPr>
        <p:spPr>
          <a:xfrm>
            <a:off x="1640156" y="0"/>
            <a:ext cx="8911687" cy="466344"/>
          </a:xfrm>
        </p:spPr>
        <p:txBody>
          <a:bodyPr>
            <a:normAutofit/>
          </a:bodyPr>
          <a:lstStyle/>
          <a:p>
            <a:pPr algn="ctr"/>
            <a:r>
              <a:rPr lang="en-SG" sz="1800" dirty="0"/>
              <a:t>Exploratory Data Analysis and Data Understanding</a:t>
            </a:r>
          </a:p>
        </p:txBody>
      </p:sp>
      <p:sp>
        <p:nvSpPr>
          <p:cNvPr id="3" name="Content Placeholder 2">
            <a:extLst>
              <a:ext uri="{FF2B5EF4-FFF2-40B4-BE49-F238E27FC236}">
                <a16:creationId xmlns:a16="http://schemas.microsoft.com/office/drawing/2014/main" id="{BEE7646C-EDCB-E002-5D63-934849193A46}"/>
              </a:ext>
            </a:extLst>
          </p:cNvPr>
          <p:cNvSpPr>
            <a:spLocks noGrp="1"/>
          </p:cNvSpPr>
          <p:nvPr>
            <p:ph idx="1"/>
          </p:nvPr>
        </p:nvSpPr>
        <p:spPr>
          <a:xfrm>
            <a:off x="1636443" y="955248"/>
            <a:ext cx="5424233" cy="5021345"/>
          </a:xfrm>
        </p:spPr>
        <p:txBody>
          <a:bodyPr>
            <a:normAutofit fontScale="77500" lnSpcReduction="20000"/>
          </a:bodyPr>
          <a:lstStyle/>
          <a:p>
            <a:r>
              <a:rPr lang="en-SG" sz="1900" dirty="0"/>
              <a:t>Inspected dataset structure using .info() and .describe() to understand data types ranges and missing values.</a:t>
            </a:r>
          </a:p>
          <a:p>
            <a:r>
              <a:rPr lang="en-SG" sz="1900" dirty="0"/>
              <a:t>Checked class distribution in part A and target distribution in part B to identify imbalance and skew.</a:t>
            </a:r>
          </a:p>
          <a:p>
            <a:r>
              <a:rPr lang="en-SG" sz="1900" dirty="0"/>
              <a:t>Visualised numerical features to assess outliers, skewness, and spread (e.g., temperature, torque, house size, prices).</a:t>
            </a:r>
          </a:p>
          <a:p>
            <a:r>
              <a:rPr lang="en-SG" sz="1900" dirty="0"/>
              <a:t>Plotted correlation heatmaps to identify relationships between features and target variables in both tasks.</a:t>
            </a:r>
          </a:p>
          <a:p>
            <a:r>
              <a:rPr lang="en-SG" sz="1900" dirty="0"/>
              <a:t>EDA insights guided decisions like log transformation for part B, scaling for both and </a:t>
            </a:r>
            <a:r>
              <a:rPr lang="en-SG" sz="1900" dirty="0" err="1"/>
              <a:t>undersampling</a:t>
            </a:r>
            <a:r>
              <a:rPr lang="en-SG" sz="1900" dirty="0"/>
              <a:t> for part A</a:t>
            </a:r>
          </a:p>
          <a:p>
            <a:r>
              <a:rPr lang="en-SG" sz="1900" dirty="0"/>
              <a:t>Identified patterns:</a:t>
            </a:r>
          </a:p>
          <a:p>
            <a:pPr lvl="1"/>
            <a:r>
              <a:rPr lang="en-SG" sz="1900" dirty="0"/>
              <a:t>Part A: Some features show relationship with machine status.</a:t>
            </a:r>
          </a:p>
          <a:p>
            <a:pPr lvl="1"/>
            <a:r>
              <a:rPr lang="en-SG" sz="1900" dirty="0"/>
              <a:t>Part B: Sale Price shows strong relationships with size and moderate relationship to number of toilets and stories.</a:t>
            </a:r>
          </a:p>
          <a:p>
            <a:pPr lvl="1"/>
            <a:endParaRPr lang="en-SG" dirty="0"/>
          </a:p>
        </p:txBody>
      </p:sp>
      <p:pic>
        <p:nvPicPr>
          <p:cNvPr id="6" name="Picture 5">
            <a:extLst>
              <a:ext uri="{FF2B5EF4-FFF2-40B4-BE49-F238E27FC236}">
                <a16:creationId xmlns:a16="http://schemas.microsoft.com/office/drawing/2014/main" id="{7D4BE747-1205-F1C6-2C87-27A327A61249}"/>
              </a:ext>
            </a:extLst>
          </p:cNvPr>
          <p:cNvPicPr>
            <a:picLocks noChangeAspect="1"/>
          </p:cNvPicPr>
          <p:nvPr/>
        </p:nvPicPr>
        <p:blipFill>
          <a:blip r:embed="rId2"/>
          <a:stretch>
            <a:fillRect/>
          </a:stretch>
        </p:blipFill>
        <p:spPr>
          <a:xfrm>
            <a:off x="8183391" y="3324518"/>
            <a:ext cx="4008609" cy="2814184"/>
          </a:xfrm>
          <a:prstGeom prst="rect">
            <a:avLst/>
          </a:prstGeom>
        </p:spPr>
      </p:pic>
      <p:pic>
        <p:nvPicPr>
          <p:cNvPr id="8" name="Picture 7">
            <a:extLst>
              <a:ext uri="{FF2B5EF4-FFF2-40B4-BE49-F238E27FC236}">
                <a16:creationId xmlns:a16="http://schemas.microsoft.com/office/drawing/2014/main" id="{ACD83287-56B7-2C7A-B59F-7228034E7514}"/>
              </a:ext>
            </a:extLst>
          </p:cNvPr>
          <p:cNvPicPr>
            <a:picLocks noChangeAspect="1"/>
          </p:cNvPicPr>
          <p:nvPr/>
        </p:nvPicPr>
        <p:blipFill>
          <a:blip r:embed="rId3"/>
          <a:stretch>
            <a:fillRect/>
          </a:stretch>
        </p:blipFill>
        <p:spPr>
          <a:xfrm>
            <a:off x="8183391" y="432541"/>
            <a:ext cx="4008609" cy="2651238"/>
          </a:xfrm>
          <a:prstGeom prst="rect">
            <a:avLst/>
          </a:prstGeom>
        </p:spPr>
      </p:pic>
      <p:sp>
        <p:nvSpPr>
          <p:cNvPr id="9" name="TextBox 8">
            <a:extLst>
              <a:ext uri="{FF2B5EF4-FFF2-40B4-BE49-F238E27FC236}">
                <a16:creationId xmlns:a16="http://schemas.microsoft.com/office/drawing/2014/main" id="{DC3310CA-48DD-4210-3D99-68E959F90DB7}"/>
              </a:ext>
            </a:extLst>
          </p:cNvPr>
          <p:cNvSpPr txBox="1"/>
          <p:nvPr/>
        </p:nvSpPr>
        <p:spPr>
          <a:xfrm>
            <a:off x="7309023" y="393230"/>
            <a:ext cx="3242820" cy="369332"/>
          </a:xfrm>
          <a:prstGeom prst="rect">
            <a:avLst/>
          </a:prstGeom>
          <a:noFill/>
        </p:spPr>
        <p:txBody>
          <a:bodyPr wrap="square" rtlCol="0">
            <a:spAutoFit/>
          </a:bodyPr>
          <a:lstStyle/>
          <a:p>
            <a:r>
              <a:rPr lang="en-SG" dirty="0"/>
              <a:t>Part A</a:t>
            </a:r>
          </a:p>
        </p:txBody>
      </p:sp>
      <p:sp>
        <p:nvSpPr>
          <p:cNvPr id="10" name="TextBox 9">
            <a:extLst>
              <a:ext uri="{FF2B5EF4-FFF2-40B4-BE49-F238E27FC236}">
                <a16:creationId xmlns:a16="http://schemas.microsoft.com/office/drawing/2014/main" id="{78E6D7D0-8C3F-26F8-9B64-E11E0085CBE4}"/>
              </a:ext>
            </a:extLst>
          </p:cNvPr>
          <p:cNvSpPr txBox="1"/>
          <p:nvPr/>
        </p:nvSpPr>
        <p:spPr>
          <a:xfrm>
            <a:off x="7309023" y="3324518"/>
            <a:ext cx="923827" cy="369332"/>
          </a:xfrm>
          <a:prstGeom prst="rect">
            <a:avLst/>
          </a:prstGeom>
          <a:noFill/>
        </p:spPr>
        <p:txBody>
          <a:bodyPr wrap="square" rtlCol="0">
            <a:spAutoFit/>
          </a:bodyPr>
          <a:lstStyle/>
          <a:p>
            <a:r>
              <a:rPr lang="en-SG" dirty="0"/>
              <a:t>Part B</a:t>
            </a:r>
          </a:p>
        </p:txBody>
      </p:sp>
    </p:spTree>
    <p:extLst>
      <p:ext uri="{BB962C8B-B14F-4D97-AF65-F5344CB8AC3E}">
        <p14:creationId xmlns:p14="http://schemas.microsoft.com/office/powerpoint/2010/main" val="42383174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B6E1E-49D0-1F7A-1E88-83E58B348356}"/>
              </a:ext>
            </a:extLst>
          </p:cNvPr>
          <p:cNvSpPr>
            <a:spLocks noGrp="1"/>
          </p:cNvSpPr>
          <p:nvPr>
            <p:ph type="title"/>
          </p:nvPr>
        </p:nvSpPr>
        <p:spPr>
          <a:xfrm>
            <a:off x="-1075279" y="0"/>
            <a:ext cx="8911687" cy="544814"/>
          </a:xfrm>
        </p:spPr>
        <p:txBody>
          <a:bodyPr>
            <a:normAutofit/>
          </a:bodyPr>
          <a:lstStyle/>
          <a:p>
            <a:pPr algn="ctr"/>
            <a:r>
              <a:rPr lang="en-SG" sz="1600" dirty="0"/>
              <a:t>Data Cleaning and Processing (Part A)</a:t>
            </a:r>
          </a:p>
        </p:txBody>
      </p:sp>
      <p:pic>
        <p:nvPicPr>
          <p:cNvPr id="16" name="Picture 15">
            <a:extLst>
              <a:ext uri="{FF2B5EF4-FFF2-40B4-BE49-F238E27FC236}">
                <a16:creationId xmlns:a16="http://schemas.microsoft.com/office/drawing/2014/main" id="{1AB25C39-8B68-3F84-3361-871A30C0B1D3}"/>
              </a:ext>
            </a:extLst>
          </p:cNvPr>
          <p:cNvPicPr>
            <a:picLocks noChangeAspect="1"/>
          </p:cNvPicPr>
          <p:nvPr/>
        </p:nvPicPr>
        <p:blipFill>
          <a:blip r:embed="rId2"/>
          <a:stretch>
            <a:fillRect/>
          </a:stretch>
        </p:blipFill>
        <p:spPr>
          <a:xfrm>
            <a:off x="5950975" y="339582"/>
            <a:ext cx="2791285" cy="1000086"/>
          </a:xfrm>
          <a:prstGeom prst="rect">
            <a:avLst/>
          </a:prstGeom>
        </p:spPr>
      </p:pic>
      <p:pic>
        <p:nvPicPr>
          <p:cNvPr id="18" name="Picture 17">
            <a:extLst>
              <a:ext uri="{FF2B5EF4-FFF2-40B4-BE49-F238E27FC236}">
                <a16:creationId xmlns:a16="http://schemas.microsoft.com/office/drawing/2014/main" id="{BB0A729D-D50D-56FA-D214-FAF9A43CD98E}"/>
              </a:ext>
            </a:extLst>
          </p:cNvPr>
          <p:cNvPicPr>
            <a:picLocks noChangeAspect="1"/>
          </p:cNvPicPr>
          <p:nvPr/>
        </p:nvPicPr>
        <p:blipFill>
          <a:blip r:embed="rId3"/>
          <a:stretch>
            <a:fillRect/>
          </a:stretch>
        </p:blipFill>
        <p:spPr>
          <a:xfrm>
            <a:off x="9345454" y="179771"/>
            <a:ext cx="2791285" cy="1620496"/>
          </a:xfrm>
          <a:prstGeom prst="rect">
            <a:avLst/>
          </a:prstGeom>
        </p:spPr>
      </p:pic>
      <p:pic>
        <p:nvPicPr>
          <p:cNvPr id="22" name="Picture 21">
            <a:extLst>
              <a:ext uri="{FF2B5EF4-FFF2-40B4-BE49-F238E27FC236}">
                <a16:creationId xmlns:a16="http://schemas.microsoft.com/office/drawing/2014/main" id="{CFDB1982-F669-43A6-2B6B-A44EA4FE25EF}"/>
              </a:ext>
            </a:extLst>
          </p:cNvPr>
          <p:cNvPicPr>
            <a:picLocks noChangeAspect="1"/>
          </p:cNvPicPr>
          <p:nvPr/>
        </p:nvPicPr>
        <p:blipFill>
          <a:blip r:embed="rId4"/>
          <a:stretch>
            <a:fillRect/>
          </a:stretch>
        </p:blipFill>
        <p:spPr>
          <a:xfrm>
            <a:off x="6185103" y="2362723"/>
            <a:ext cx="2830853" cy="690805"/>
          </a:xfrm>
          <a:prstGeom prst="rect">
            <a:avLst/>
          </a:prstGeom>
        </p:spPr>
      </p:pic>
      <p:pic>
        <p:nvPicPr>
          <p:cNvPr id="24" name="Picture 23">
            <a:extLst>
              <a:ext uri="{FF2B5EF4-FFF2-40B4-BE49-F238E27FC236}">
                <a16:creationId xmlns:a16="http://schemas.microsoft.com/office/drawing/2014/main" id="{9376001F-947F-F42B-5467-F0DC779658B9}"/>
              </a:ext>
            </a:extLst>
          </p:cNvPr>
          <p:cNvPicPr>
            <a:picLocks noChangeAspect="1"/>
          </p:cNvPicPr>
          <p:nvPr/>
        </p:nvPicPr>
        <p:blipFill>
          <a:blip r:embed="rId5"/>
          <a:stretch>
            <a:fillRect/>
          </a:stretch>
        </p:blipFill>
        <p:spPr>
          <a:xfrm>
            <a:off x="6175887" y="3601981"/>
            <a:ext cx="5899649" cy="1075071"/>
          </a:xfrm>
          <a:prstGeom prst="rect">
            <a:avLst/>
          </a:prstGeom>
        </p:spPr>
      </p:pic>
      <p:pic>
        <p:nvPicPr>
          <p:cNvPr id="26" name="Picture 25">
            <a:extLst>
              <a:ext uri="{FF2B5EF4-FFF2-40B4-BE49-F238E27FC236}">
                <a16:creationId xmlns:a16="http://schemas.microsoft.com/office/drawing/2014/main" id="{FC8AE45F-411A-5016-3986-69E3ADCD8980}"/>
              </a:ext>
            </a:extLst>
          </p:cNvPr>
          <p:cNvPicPr>
            <a:picLocks noChangeAspect="1"/>
          </p:cNvPicPr>
          <p:nvPr/>
        </p:nvPicPr>
        <p:blipFill>
          <a:blip r:embed="rId6"/>
          <a:stretch>
            <a:fillRect/>
          </a:stretch>
        </p:blipFill>
        <p:spPr>
          <a:xfrm>
            <a:off x="7600530" y="5156719"/>
            <a:ext cx="3410712" cy="1543819"/>
          </a:xfrm>
          <a:prstGeom prst="rect">
            <a:avLst/>
          </a:prstGeom>
        </p:spPr>
      </p:pic>
      <p:sp>
        <p:nvSpPr>
          <p:cNvPr id="31" name="TextBox 30">
            <a:extLst>
              <a:ext uri="{FF2B5EF4-FFF2-40B4-BE49-F238E27FC236}">
                <a16:creationId xmlns:a16="http://schemas.microsoft.com/office/drawing/2014/main" id="{188819CB-34F7-1769-7793-4934571838C9}"/>
              </a:ext>
            </a:extLst>
          </p:cNvPr>
          <p:cNvSpPr txBox="1"/>
          <p:nvPr/>
        </p:nvSpPr>
        <p:spPr>
          <a:xfrm>
            <a:off x="1036472" y="1265532"/>
            <a:ext cx="4688183" cy="4673074"/>
          </a:xfrm>
          <a:prstGeom prst="rect">
            <a:avLst/>
          </a:prstGeom>
          <a:noFill/>
        </p:spPr>
        <p:txBody>
          <a:bodyPr wrap="square">
            <a:spAutoFit/>
          </a:bodyPr>
          <a:lstStyle/>
          <a:p>
            <a:pPr marL="342900" marR="0" lvl="0" indent="-34290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SG" sz="16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Ordinal Encoding is first applied to ‘Quality’ feature </a:t>
            </a:r>
            <a:r>
              <a:rPr kumimoji="0" lang="en-SG" sz="1600" b="0" i="0" u="none" strike="noStrike" kern="1200" cap="none" spc="0" normalizeH="0" baseline="0" noProof="0" dirty="0" err="1">
                <a:ln>
                  <a:noFill/>
                </a:ln>
                <a:solidFill>
                  <a:prstClr val="black">
                    <a:lumMod val="75000"/>
                    <a:lumOff val="25000"/>
                  </a:prstClr>
                </a:solidFill>
                <a:effectLst/>
                <a:uLnTx/>
                <a:uFillTx/>
                <a:latin typeface="Century Gothic" panose="020B0502020202020204"/>
                <a:ea typeface="+mn-ea"/>
                <a:cs typeface="+mn-cs"/>
              </a:rPr>
              <a:t>wher</a:t>
            </a:r>
            <a:r>
              <a:rPr kumimoji="0" lang="en-SG" sz="16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H&gt;M&gt;L=1&gt;0&gt;-1.</a:t>
            </a:r>
          </a:p>
          <a:p>
            <a:pPr marL="342900" marR="0" lvl="0" indent="-34290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lang="en-SG" sz="1600" dirty="0" err="1">
                <a:solidFill>
                  <a:prstClr val="black">
                    <a:lumMod val="75000"/>
                    <a:lumOff val="25000"/>
                  </a:prstClr>
                </a:solidFill>
                <a:latin typeface="Century Gothic" panose="020B0502020202020204"/>
              </a:rPr>
              <a:t>NaN</a:t>
            </a:r>
            <a:r>
              <a:rPr lang="en-SG" sz="1600" dirty="0">
                <a:solidFill>
                  <a:prstClr val="black">
                    <a:lumMod val="75000"/>
                    <a:lumOff val="25000"/>
                  </a:prstClr>
                </a:solidFill>
                <a:latin typeface="Century Gothic" panose="020B0502020202020204"/>
              </a:rPr>
              <a:t> values in ‘Quality’ are dropped as they do not provide meaningful contribution.</a:t>
            </a:r>
          </a:p>
          <a:p>
            <a:pPr marL="342900" marR="0" lvl="0" indent="-34290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SG" sz="16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Data is then split into </a:t>
            </a:r>
            <a:r>
              <a:rPr kumimoji="0" lang="en-SG" sz="1600" b="0" i="0" u="none" strike="noStrike" kern="1200" cap="none" spc="0" normalizeH="0" baseline="0" noProof="0" dirty="0" err="1">
                <a:ln>
                  <a:noFill/>
                </a:ln>
                <a:solidFill>
                  <a:prstClr val="black">
                    <a:lumMod val="75000"/>
                    <a:lumOff val="25000"/>
                  </a:prstClr>
                </a:solidFill>
                <a:effectLst/>
                <a:uLnTx/>
                <a:uFillTx/>
                <a:latin typeface="Century Gothic" panose="020B0502020202020204"/>
                <a:ea typeface="+mn-ea"/>
                <a:cs typeface="+mn-cs"/>
              </a:rPr>
              <a:t>X_train</a:t>
            </a:r>
            <a:r>
              <a:rPr kumimoji="0" lang="en-SG" sz="16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t>
            </a:r>
            <a:r>
              <a:rPr kumimoji="0" lang="en-SG" sz="1600" b="0" i="0" u="none" strike="noStrike" kern="1200" cap="none" spc="0" normalizeH="0" baseline="0" noProof="0" dirty="0" err="1">
                <a:ln>
                  <a:noFill/>
                </a:ln>
                <a:solidFill>
                  <a:prstClr val="black">
                    <a:lumMod val="75000"/>
                    <a:lumOff val="25000"/>
                  </a:prstClr>
                </a:solidFill>
                <a:effectLst/>
                <a:uLnTx/>
                <a:uFillTx/>
                <a:latin typeface="Century Gothic" panose="020B0502020202020204"/>
                <a:ea typeface="+mn-ea"/>
                <a:cs typeface="+mn-cs"/>
              </a:rPr>
              <a:t>y_train</a:t>
            </a:r>
            <a:r>
              <a:rPr kumimoji="0" lang="en-SG" sz="16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t>
            </a:r>
            <a:r>
              <a:rPr kumimoji="0" lang="en-SG" sz="1600" b="0" i="0" u="none" strike="noStrike" kern="1200" cap="none" spc="0" normalizeH="0" baseline="0" noProof="0" dirty="0" err="1">
                <a:ln>
                  <a:noFill/>
                </a:ln>
                <a:solidFill>
                  <a:prstClr val="black">
                    <a:lumMod val="75000"/>
                    <a:lumOff val="25000"/>
                  </a:prstClr>
                </a:solidFill>
                <a:effectLst/>
                <a:uLnTx/>
                <a:uFillTx/>
                <a:latin typeface="Century Gothic" panose="020B0502020202020204"/>
                <a:ea typeface="+mn-ea"/>
                <a:cs typeface="+mn-cs"/>
              </a:rPr>
              <a:t>X_test</a:t>
            </a:r>
            <a:r>
              <a:rPr kumimoji="0" lang="en-SG" sz="16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t>
            </a:r>
            <a:r>
              <a:rPr kumimoji="0" lang="en-SG" sz="1600" b="0" i="0" u="none" strike="noStrike" kern="1200" cap="none" spc="0" normalizeH="0" baseline="0" noProof="0" dirty="0" err="1">
                <a:ln>
                  <a:noFill/>
                </a:ln>
                <a:solidFill>
                  <a:prstClr val="black">
                    <a:lumMod val="75000"/>
                    <a:lumOff val="25000"/>
                  </a:prstClr>
                </a:solidFill>
                <a:effectLst/>
                <a:uLnTx/>
                <a:uFillTx/>
                <a:latin typeface="Century Gothic" panose="020B0502020202020204"/>
                <a:ea typeface="+mn-ea"/>
                <a:cs typeface="+mn-cs"/>
              </a:rPr>
              <a:t>y_test</a:t>
            </a:r>
            <a:r>
              <a:rPr kumimoji="0" lang="en-SG" sz="16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t>
            </a:r>
          </a:p>
          <a:p>
            <a:pPr marL="342900" marR="0" lvl="0" indent="-34290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lang="en-SG" sz="1600" dirty="0" err="1">
                <a:solidFill>
                  <a:prstClr val="black">
                    <a:lumMod val="75000"/>
                    <a:lumOff val="25000"/>
                  </a:prstClr>
                </a:solidFill>
                <a:latin typeface="Century Gothic" panose="020B0502020202020204"/>
              </a:rPr>
              <a:t>NaN</a:t>
            </a:r>
            <a:r>
              <a:rPr lang="en-SG" sz="1600" dirty="0">
                <a:solidFill>
                  <a:prstClr val="black">
                    <a:lumMod val="75000"/>
                    <a:lumOff val="25000"/>
                  </a:prstClr>
                </a:solidFill>
                <a:latin typeface="Century Gothic" panose="020B0502020202020204"/>
              </a:rPr>
              <a:t> values in </a:t>
            </a:r>
            <a:r>
              <a:rPr lang="en-SG" sz="1600" dirty="0" err="1">
                <a:solidFill>
                  <a:prstClr val="black">
                    <a:lumMod val="75000"/>
                    <a:lumOff val="25000"/>
                  </a:prstClr>
                </a:solidFill>
                <a:latin typeface="Century Gothic" panose="020B0502020202020204"/>
              </a:rPr>
              <a:t>X_train</a:t>
            </a:r>
            <a:r>
              <a:rPr lang="en-SG" sz="1600" dirty="0">
                <a:solidFill>
                  <a:prstClr val="black">
                    <a:lumMod val="75000"/>
                    <a:lumOff val="25000"/>
                  </a:prstClr>
                </a:solidFill>
                <a:latin typeface="Century Gothic" panose="020B0502020202020204"/>
              </a:rPr>
              <a:t> and </a:t>
            </a:r>
            <a:r>
              <a:rPr lang="en-SG" sz="1600" dirty="0" err="1">
                <a:solidFill>
                  <a:prstClr val="black">
                    <a:lumMod val="75000"/>
                    <a:lumOff val="25000"/>
                  </a:prstClr>
                </a:solidFill>
                <a:latin typeface="Century Gothic" panose="020B0502020202020204"/>
              </a:rPr>
              <a:t>X_test</a:t>
            </a:r>
            <a:r>
              <a:rPr lang="en-SG" sz="1600" dirty="0">
                <a:solidFill>
                  <a:prstClr val="black">
                    <a:lumMod val="75000"/>
                    <a:lumOff val="25000"/>
                  </a:prstClr>
                </a:solidFill>
                <a:latin typeface="Century Gothic" panose="020B0502020202020204"/>
              </a:rPr>
              <a:t> (Process T (C) and Rotation Speed (rpm) are then imputed with median using </a:t>
            </a:r>
            <a:r>
              <a:rPr lang="en-SG" sz="1600" dirty="0" err="1">
                <a:solidFill>
                  <a:prstClr val="black">
                    <a:lumMod val="75000"/>
                    <a:lumOff val="25000"/>
                  </a:prstClr>
                </a:solidFill>
                <a:latin typeface="Century Gothic" panose="020B0502020202020204"/>
              </a:rPr>
              <a:t>SimpleImputer</a:t>
            </a:r>
            <a:r>
              <a:rPr lang="en-SG" sz="1600" dirty="0">
                <a:solidFill>
                  <a:prstClr val="black">
                    <a:lumMod val="75000"/>
                    <a:lumOff val="25000"/>
                  </a:prstClr>
                </a:solidFill>
                <a:latin typeface="Century Gothic" panose="020B0502020202020204"/>
              </a:rPr>
              <a:t>().</a:t>
            </a:r>
          </a:p>
          <a:p>
            <a:pPr marL="342900" marR="0" lvl="0" indent="-34290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SG" sz="16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Data in train set is then </a:t>
            </a:r>
            <a:r>
              <a:rPr kumimoji="0" lang="en-SG" sz="1600" b="0" i="0" u="none" strike="noStrike" kern="1200" cap="none" spc="0" normalizeH="0" baseline="0" noProof="0" dirty="0" err="1">
                <a:ln>
                  <a:noFill/>
                </a:ln>
                <a:solidFill>
                  <a:prstClr val="black">
                    <a:lumMod val="75000"/>
                    <a:lumOff val="25000"/>
                  </a:prstClr>
                </a:solidFill>
                <a:effectLst/>
                <a:uLnTx/>
                <a:uFillTx/>
                <a:latin typeface="Century Gothic" panose="020B0502020202020204"/>
                <a:ea typeface="+mn-ea"/>
                <a:cs typeface="+mn-cs"/>
              </a:rPr>
              <a:t>undersampled</a:t>
            </a:r>
            <a:r>
              <a:rPr kumimoji="0" lang="en-SG" sz="16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t>
            </a:r>
          </a:p>
          <a:p>
            <a:pPr marL="342900" marR="0" lvl="0" indent="-34290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lang="en-SG" sz="1600" dirty="0" err="1">
                <a:solidFill>
                  <a:prstClr val="black">
                    <a:lumMod val="75000"/>
                    <a:lumOff val="25000"/>
                  </a:prstClr>
                </a:solidFill>
                <a:latin typeface="Century Gothic" panose="020B0502020202020204"/>
              </a:rPr>
              <a:t>X_train</a:t>
            </a:r>
            <a:r>
              <a:rPr lang="en-SG" sz="1600" dirty="0">
                <a:solidFill>
                  <a:prstClr val="black">
                    <a:lumMod val="75000"/>
                    <a:lumOff val="25000"/>
                  </a:prstClr>
                </a:solidFill>
                <a:latin typeface="Century Gothic" panose="020B0502020202020204"/>
              </a:rPr>
              <a:t> and </a:t>
            </a:r>
            <a:r>
              <a:rPr lang="en-SG" sz="1600" dirty="0" err="1">
                <a:solidFill>
                  <a:prstClr val="black">
                    <a:lumMod val="75000"/>
                    <a:lumOff val="25000"/>
                  </a:prstClr>
                </a:solidFill>
                <a:latin typeface="Century Gothic" panose="020B0502020202020204"/>
              </a:rPr>
              <a:t>X_test</a:t>
            </a:r>
            <a:r>
              <a:rPr lang="en-SG" sz="1600" dirty="0">
                <a:solidFill>
                  <a:prstClr val="black">
                    <a:lumMod val="75000"/>
                    <a:lumOff val="25000"/>
                  </a:prstClr>
                </a:solidFill>
                <a:latin typeface="Century Gothic" panose="020B0502020202020204"/>
              </a:rPr>
              <a:t> and </a:t>
            </a:r>
            <a:r>
              <a:rPr lang="en-SG" sz="1600" dirty="0" err="1">
                <a:solidFill>
                  <a:prstClr val="black">
                    <a:lumMod val="75000"/>
                    <a:lumOff val="25000"/>
                  </a:prstClr>
                </a:solidFill>
                <a:latin typeface="Century Gothic" panose="020B0502020202020204"/>
              </a:rPr>
              <a:t>X_train_undersampled</a:t>
            </a:r>
            <a:r>
              <a:rPr lang="en-SG" sz="1600" dirty="0">
                <a:solidFill>
                  <a:prstClr val="black">
                    <a:lumMod val="75000"/>
                    <a:lumOff val="25000"/>
                  </a:prstClr>
                </a:solidFill>
                <a:latin typeface="Century Gothic" panose="020B0502020202020204"/>
              </a:rPr>
              <a:t> are then scaled to standardize features using </a:t>
            </a:r>
            <a:r>
              <a:rPr lang="en-SG" sz="1600" dirty="0" err="1">
                <a:solidFill>
                  <a:prstClr val="black">
                    <a:lumMod val="75000"/>
                    <a:lumOff val="25000"/>
                  </a:prstClr>
                </a:solidFill>
                <a:latin typeface="Century Gothic" panose="020B0502020202020204"/>
              </a:rPr>
              <a:t>StandardScaler</a:t>
            </a:r>
            <a:r>
              <a:rPr lang="en-SG" sz="1600" dirty="0">
                <a:solidFill>
                  <a:prstClr val="black">
                    <a:lumMod val="75000"/>
                    <a:lumOff val="25000"/>
                  </a:prstClr>
                </a:solidFill>
                <a:latin typeface="Century Gothic" panose="020B0502020202020204"/>
              </a:rPr>
              <a:t>().</a:t>
            </a:r>
            <a:endParaRPr kumimoji="0" lang="en-SG" sz="16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endParaRPr>
          </a:p>
        </p:txBody>
      </p:sp>
      <p:pic>
        <p:nvPicPr>
          <p:cNvPr id="33" name="Picture 32">
            <a:extLst>
              <a:ext uri="{FF2B5EF4-FFF2-40B4-BE49-F238E27FC236}">
                <a16:creationId xmlns:a16="http://schemas.microsoft.com/office/drawing/2014/main" id="{EB825A92-2496-D36E-9719-8BD6B2EBD45B}"/>
              </a:ext>
            </a:extLst>
          </p:cNvPr>
          <p:cNvPicPr>
            <a:picLocks noChangeAspect="1"/>
          </p:cNvPicPr>
          <p:nvPr/>
        </p:nvPicPr>
        <p:blipFill>
          <a:blip r:embed="rId7"/>
          <a:stretch>
            <a:fillRect/>
          </a:stretch>
        </p:blipFill>
        <p:spPr>
          <a:xfrm>
            <a:off x="9390064" y="2313708"/>
            <a:ext cx="2775973" cy="1115292"/>
          </a:xfrm>
          <a:prstGeom prst="rect">
            <a:avLst/>
          </a:prstGeom>
        </p:spPr>
      </p:pic>
      <p:cxnSp>
        <p:nvCxnSpPr>
          <p:cNvPr id="35" name="Straight Arrow Connector 34">
            <a:extLst>
              <a:ext uri="{FF2B5EF4-FFF2-40B4-BE49-F238E27FC236}">
                <a16:creationId xmlns:a16="http://schemas.microsoft.com/office/drawing/2014/main" id="{8466667A-C31E-DA86-B941-E982545D5F77}"/>
              </a:ext>
            </a:extLst>
          </p:cNvPr>
          <p:cNvCxnSpPr>
            <a:cxnSpLocks/>
          </p:cNvCxnSpPr>
          <p:nvPr/>
        </p:nvCxnSpPr>
        <p:spPr>
          <a:xfrm>
            <a:off x="8802680" y="839625"/>
            <a:ext cx="50320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5BDC3DEE-81F3-8D30-33F8-E9940BB63278}"/>
              </a:ext>
            </a:extLst>
          </p:cNvPr>
          <p:cNvCxnSpPr>
            <a:cxnSpLocks/>
          </p:cNvCxnSpPr>
          <p:nvPr/>
        </p:nvCxnSpPr>
        <p:spPr>
          <a:xfrm>
            <a:off x="10899648" y="1865376"/>
            <a:ext cx="0" cy="3660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5862304E-452D-203C-5C73-615566EBF736}"/>
              </a:ext>
            </a:extLst>
          </p:cNvPr>
          <p:cNvCxnSpPr/>
          <p:nvPr/>
        </p:nvCxnSpPr>
        <p:spPr>
          <a:xfrm flipH="1">
            <a:off x="9125712" y="2679192"/>
            <a:ext cx="21974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F8855DA9-C55B-6931-2E33-B8FE529ECEB3}"/>
              </a:ext>
            </a:extLst>
          </p:cNvPr>
          <p:cNvCxnSpPr/>
          <p:nvPr/>
        </p:nvCxnSpPr>
        <p:spPr>
          <a:xfrm>
            <a:off x="7836408" y="3145536"/>
            <a:ext cx="0" cy="4206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C02847BA-80F9-AA08-842F-E774E3FBA144}"/>
              </a:ext>
            </a:extLst>
          </p:cNvPr>
          <p:cNvCxnSpPr/>
          <p:nvPr/>
        </p:nvCxnSpPr>
        <p:spPr>
          <a:xfrm>
            <a:off x="9125712" y="4685124"/>
            <a:ext cx="0" cy="4206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41742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2B440352-18AD-FCD6-4DD4-CEB3B3D359AB}"/>
              </a:ext>
            </a:extLst>
          </p:cNvPr>
          <p:cNvPicPr>
            <a:picLocks noGrp="1" noChangeAspect="1"/>
          </p:cNvPicPr>
          <p:nvPr>
            <p:ph idx="1"/>
          </p:nvPr>
        </p:nvPicPr>
        <p:blipFill>
          <a:blip r:embed="rId2"/>
          <a:stretch>
            <a:fillRect/>
          </a:stretch>
        </p:blipFill>
        <p:spPr>
          <a:xfrm>
            <a:off x="7547291" y="303882"/>
            <a:ext cx="3290465" cy="1368028"/>
          </a:xfrm>
          <a:prstGeom prst="rect">
            <a:avLst/>
          </a:prstGeom>
        </p:spPr>
      </p:pic>
      <p:sp>
        <p:nvSpPr>
          <p:cNvPr id="5" name="TextBox 4">
            <a:extLst>
              <a:ext uri="{FF2B5EF4-FFF2-40B4-BE49-F238E27FC236}">
                <a16:creationId xmlns:a16="http://schemas.microsoft.com/office/drawing/2014/main" id="{6F026E55-FC6C-342B-C2B3-320DC14D3360}"/>
              </a:ext>
            </a:extLst>
          </p:cNvPr>
          <p:cNvSpPr txBox="1"/>
          <p:nvPr/>
        </p:nvSpPr>
        <p:spPr>
          <a:xfrm>
            <a:off x="977265" y="140478"/>
            <a:ext cx="6094476" cy="338554"/>
          </a:xfrm>
          <a:prstGeom prst="rect">
            <a:avLst/>
          </a:prstGeom>
          <a:noFill/>
        </p:spPr>
        <p:txBody>
          <a:bodyPr wrap="square">
            <a:spAutoFit/>
          </a:bodyPr>
          <a:lstStyle/>
          <a:p>
            <a:pPr algn="ctr"/>
            <a:r>
              <a:rPr lang="en-SG" sz="1600" dirty="0"/>
              <a:t>Data Cleaning and Processing (Part B)</a:t>
            </a:r>
          </a:p>
        </p:txBody>
      </p:sp>
      <p:pic>
        <p:nvPicPr>
          <p:cNvPr id="9" name="Picture 8">
            <a:extLst>
              <a:ext uri="{FF2B5EF4-FFF2-40B4-BE49-F238E27FC236}">
                <a16:creationId xmlns:a16="http://schemas.microsoft.com/office/drawing/2014/main" id="{FF687661-631B-8F0E-8932-A9CC2191D80C}"/>
              </a:ext>
            </a:extLst>
          </p:cNvPr>
          <p:cNvPicPr>
            <a:picLocks noChangeAspect="1"/>
          </p:cNvPicPr>
          <p:nvPr/>
        </p:nvPicPr>
        <p:blipFill>
          <a:blip r:embed="rId3"/>
          <a:stretch>
            <a:fillRect/>
          </a:stretch>
        </p:blipFill>
        <p:spPr>
          <a:xfrm>
            <a:off x="6475688" y="1871844"/>
            <a:ext cx="2846588" cy="2505484"/>
          </a:xfrm>
          <a:prstGeom prst="rect">
            <a:avLst/>
          </a:prstGeom>
        </p:spPr>
      </p:pic>
      <p:pic>
        <p:nvPicPr>
          <p:cNvPr id="11" name="Picture 10">
            <a:extLst>
              <a:ext uri="{FF2B5EF4-FFF2-40B4-BE49-F238E27FC236}">
                <a16:creationId xmlns:a16="http://schemas.microsoft.com/office/drawing/2014/main" id="{D5549155-5804-85FC-150A-B1454811059B}"/>
              </a:ext>
            </a:extLst>
          </p:cNvPr>
          <p:cNvPicPr>
            <a:picLocks noChangeAspect="1"/>
          </p:cNvPicPr>
          <p:nvPr/>
        </p:nvPicPr>
        <p:blipFill>
          <a:blip r:embed="rId4"/>
          <a:stretch>
            <a:fillRect/>
          </a:stretch>
        </p:blipFill>
        <p:spPr>
          <a:xfrm>
            <a:off x="9322276" y="1871844"/>
            <a:ext cx="2716836" cy="2505484"/>
          </a:xfrm>
          <a:prstGeom prst="rect">
            <a:avLst/>
          </a:prstGeom>
        </p:spPr>
      </p:pic>
      <p:pic>
        <p:nvPicPr>
          <p:cNvPr id="13" name="Picture 12">
            <a:extLst>
              <a:ext uri="{FF2B5EF4-FFF2-40B4-BE49-F238E27FC236}">
                <a16:creationId xmlns:a16="http://schemas.microsoft.com/office/drawing/2014/main" id="{EBB06267-1C9D-CC25-8082-0F390E51D686}"/>
              </a:ext>
            </a:extLst>
          </p:cNvPr>
          <p:cNvPicPr>
            <a:picLocks noChangeAspect="1"/>
          </p:cNvPicPr>
          <p:nvPr/>
        </p:nvPicPr>
        <p:blipFill>
          <a:blip r:embed="rId5"/>
          <a:stretch>
            <a:fillRect/>
          </a:stretch>
        </p:blipFill>
        <p:spPr>
          <a:xfrm>
            <a:off x="7126746" y="4581144"/>
            <a:ext cx="4225348" cy="1288960"/>
          </a:xfrm>
          <a:prstGeom prst="rect">
            <a:avLst/>
          </a:prstGeom>
        </p:spPr>
      </p:pic>
      <p:sp>
        <p:nvSpPr>
          <p:cNvPr id="15" name="TextBox 14">
            <a:extLst>
              <a:ext uri="{FF2B5EF4-FFF2-40B4-BE49-F238E27FC236}">
                <a16:creationId xmlns:a16="http://schemas.microsoft.com/office/drawing/2014/main" id="{0668FB47-2ED7-6384-B8B5-5B515E2381A1}"/>
              </a:ext>
            </a:extLst>
          </p:cNvPr>
          <p:cNvSpPr txBox="1"/>
          <p:nvPr/>
        </p:nvSpPr>
        <p:spPr>
          <a:xfrm>
            <a:off x="1602486" y="1120582"/>
            <a:ext cx="4844034" cy="4632037"/>
          </a:xfrm>
          <a:prstGeom prst="rect">
            <a:avLst/>
          </a:prstGeom>
          <a:noFill/>
        </p:spPr>
        <p:txBody>
          <a:bodyPr wrap="square">
            <a:spAutoFit/>
          </a:bodyPr>
          <a:lstStyle/>
          <a:p>
            <a:pPr marL="342900" marR="0" lvl="0" indent="-34290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SG" sz="18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Data is first split into </a:t>
            </a:r>
            <a:r>
              <a:rPr kumimoji="0" lang="en-SG" sz="1800" b="0" i="0" u="none" strike="noStrike" kern="1200" cap="none" spc="0" normalizeH="0" baseline="0" noProof="0" dirty="0" err="1">
                <a:ln>
                  <a:noFill/>
                </a:ln>
                <a:solidFill>
                  <a:prstClr val="black">
                    <a:lumMod val="75000"/>
                    <a:lumOff val="25000"/>
                  </a:prstClr>
                </a:solidFill>
                <a:effectLst/>
                <a:uLnTx/>
                <a:uFillTx/>
                <a:latin typeface="Century Gothic" panose="020B0502020202020204"/>
                <a:ea typeface="+mn-ea"/>
                <a:cs typeface="+mn-cs"/>
              </a:rPr>
              <a:t>X_train</a:t>
            </a:r>
            <a:r>
              <a:rPr kumimoji="0" lang="en-SG" sz="18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t>
            </a:r>
            <a:r>
              <a:rPr kumimoji="0" lang="en-SG" sz="1800" b="0" i="0" u="none" strike="noStrike" kern="1200" cap="none" spc="0" normalizeH="0" baseline="0" noProof="0" dirty="0" err="1">
                <a:ln>
                  <a:noFill/>
                </a:ln>
                <a:solidFill>
                  <a:prstClr val="black">
                    <a:lumMod val="75000"/>
                    <a:lumOff val="25000"/>
                  </a:prstClr>
                </a:solidFill>
                <a:effectLst/>
                <a:uLnTx/>
                <a:uFillTx/>
                <a:latin typeface="Century Gothic" panose="020B0502020202020204"/>
                <a:ea typeface="+mn-ea"/>
                <a:cs typeface="+mn-cs"/>
              </a:rPr>
              <a:t>X_test</a:t>
            </a:r>
            <a:r>
              <a:rPr kumimoji="0" lang="en-SG" sz="18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t>
            </a:r>
            <a:r>
              <a:rPr kumimoji="0" lang="en-SG" sz="1800" b="0" i="0" u="none" strike="noStrike" kern="1200" cap="none" spc="0" normalizeH="0" baseline="0" noProof="0" dirty="0" err="1">
                <a:ln>
                  <a:noFill/>
                </a:ln>
                <a:solidFill>
                  <a:prstClr val="black">
                    <a:lumMod val="75000"/>
                    <a:lumOff val="25000"/>
                  </a:prstClr>
                </a:solidFill>
                <a:effectLst/>
                <a:uLnTx/>
                <a:uFillTx/>
                <a:latin typeface="Century Gothic" panose="020B0502020202020204"/>
                <a:ea typeface="+mn-ea"/>
                <a:cs typeface="+mn-cs"/>
              </a:rPr>
              <a:t>y_train</a:t>
            </a:r>
            <a:r>
              <a:rPr kumimoji="0" lang="en-SG" sz="18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a:t>
            </a:r>
            <a:r>
              <a:rPr kumimoji="0" lang="en-SG" sz="1800" b="0" i="0" u="none" strike="noStrike" kern="1200" cap="none" spc="0" normalizeH="0" baseline="0" noProof="0" dirty="0" err="1">
                <a:ln>
                  <a:noFill/>
                </a:ln>
                <a:solidFill>
                  <a:prstClr val="black">
                    <a:lumMod val="75000"/>
                    <a:lumOff val="25000"/>
                  </a:prstClr>
                </a:solidFill>
                <a:effectLst/>
                <a:uLnTx/>
                <a:uFillTx/>
                <a:latin typeface="Century Gothic" panose="020B0502020202020204"/>
                <a:ea typeface="+mn-ea"/>
                <a:cs typeface="+mn-cs"/>
              </a:rPr>
              <a:t>y_test</a:t>
            </a:r>
            <a:endParaRPr kumimoji="0" lang="en-SG" sz="18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endParaRPr>
          </a:p>
          <a:p>
            <a:pPr marL="342900" marR="0" lvl="0" indent="-34290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lang="en-SG" sz="1800" dirty="0">
                <a:solidFill>
                  <a:prstClr val="black">
                    <a:lumMod val="75000"/>
                    <a:lumOff val="25000"/>
                  </a:prstClr>
                </a:solidFill>
                <a:latin typeface="Century Gothic" panose="020B0502020202020204"/>
              </a:rPr>
              <a:t>Target feature’s distribution is found out to be skewed, hence log-transformation is applied to make the distribution normal.</a:t>
            </a:r>
          </a:p>
          <a:p>
            <a:pPr marL="342900" marR="0" lvl="0" indent="-34290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SG" sz="18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Preprocessor using pipeline is then set up for later use that scales numerical features using </a:t>
            </a:r>
            <a:r>
              <a:rPr kumimoji="0" lang="en-SG" sz="1800" b="0" i="0" u="none" strike="noStrike" kern="1200" cap="none" spc="0" normalizeH="0" baseline="0" noProof="0" dirty="0" err="1">
                <a:ln>
                  <a:noFill/>
                </a:ln>
                <a:solidFill>
                  <a:prstClr val="black">
                    <a:lumMod val="75000"/>
                    <a:lumOff val="25000"/>
                  </a:prstClr>
                </a:solidFill>
                <a:effectLst/>
                <a:uLnTx/>
                <a:uFillTx/>
                <a:latin typeface="Century Gothic" panose="020B0502020202020204"/>
                <a:ea typeface="+mn-ea"/>
                <a:cs typeface="+mn-cs"/>
              </a:rPr>
              <a:t>StandardScaler</a:t>
            </a:r>
            <a:r>
              <a:rPr kumimoji="0" lang="en-SG" sz="18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which </a:t>
            </a:r>
            <a:r>
              <a:rPr lang="en-SG" dirty="0">
                <a:solidFill>
                  <a:prstClr val="black">
                    <a:lumMod val="75000"/>
                    <a:lumOff val="25000"/>
                  </a:prstClr>
                </a:solidFill>
                <a:latin typeface="Century Gothic" panose="020B0502020202020204"/>
              </a:rPr>
              <a:t>is important for regularization models </a:t>
            </a:r>
            <a:r>
              <a:rPr kumimoji="0" lang="en-SG" sz="18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and encodes categorical features using </a:t>
            </a:r>
            <a:r>
              <a:rPr kumimoji="0" lang="en-SG" sz="1800" b="0" i="0" u="none" strike="noStrike" kern="1200" cap="none" spc="0" normalizeH="0" baseline="0" noProof="0" dirty="0" err="1">
                <a:ln>
                  <a:noFill/>
                </a:ln>
                <a:solidFill>
                  <a:prstClr val="black">
                    <a:lumMod val="75000"/>
                    <a:lumOff val="25000"/>
                  </a:prstClr>
                </a:solidFill>
                <a:effectLst/>
                <a:uLnTx/>
                <a:uFillTx/>
                <a:latin typeface="Century Gothic" panose="020B0502020202020204"/>
                <a:ea typeface="+mn-ea"/>
                <a:cs typeface="+mn-cs"/>
              </a:rPr>
              <a:t>OneHotEncoder</a:t>
            </a:r>
            <a:r>
              <a:rPr kumimoji="0" lang="en-SG" sz="18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 to convert them into a machine readable format.</a:t>
            </a:r>
            <a:endParaRPr lang="en-SG" dirty="0">
              <a:solidFill>
                <a:prstClr val="black">
                  <a:lumMod val="75000"/>
                  <a:lumOff val="25000"/>
                </a:prstClr>
              </a:solidFill>
              <a:latin typeface="Century Gothic" panose="020B0502020202020204"/>
            </a:endParaRPr>
          </a:p>
          <a:p>
            <a:pPr marL="342900" marR="0" lvl="0" indent="-342900" algn="l"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kumimoji="0" lang="en-SG" sz="18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rPr>
              <a:t>The </a:t>
            </a:r>
            <a:r>
              <a:rPr lang="en-SG" dirty="0">
                <a:solidFill>
                  <a:prstClr val="black">
                    <a:lumMod val="75000"/>
                    <a:lumOff val="25000"/>
                  </a:prstClr>
                </a:solidFill>
                <a:latin typeface="Century Gothic" panose="020B0502020202020204"/>
              </a:rPr>
              <a:t>preprocessor also prevents data leakage.</a:t>
            </a:r>
            <a:endParaRPr kumimoji="0" lang="en-SG" sz="1800" b="0" i="0" u="none" strike="noStrike" kern="1200" cap="none" spc="0" normalizeH="0" baseline="0" noProof="0" dirty="0">
              <a:ln>
                <a:noFill/>
              </a:ln>
              <a:solidFill>
                <a:prstClr val="black">
                  <a:lumMod val="75000"/>
                  <a:lumOff val="25000"/>
                </a:prstClr>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40748263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1E492-5BFA-7ABD-FB87-7358D6BA632E}"/>
              </a:ext>
            </a:extLst>
          </p:cNvPr>
          <p:cNvSpPr>
            <a:spLocks noGrp="1"/>
          </p:cNvSpPr>
          <p:nvPr>
            <p:ph type="title"/>
          </p:nvPr>
        </p:nvSpPr>
        <p:spPr>
          <a:xfrm>
            <a:off x="2044285" y="102902"/>
            <a:ext cx="3231803" cy="573754"/>
          </a:xfrm>
        </p:spPr>
        <p:txBody>
          <a:bodyPr>
            <a:normAutofit/>
          </a:bodyPr>
          <a:lstStyle/>
          <a:p>
            <a:r>
              <a:rPr lang="en-SG" sz="1800" dirty="0"/>
              <a:t>Model evaluation (Part A)</a:t>
            </a:r>
          </a:p>
        </p:txBody>
      </p:sp>
      <p:sp>
        <p:nvSpPr>
          <p:cNvPr id="3" name="Content Placeholder 2">
            <a:extLst>
              <a:ext uri="{FF2B5EF4-FFF2-40B4-BE49-F238E27FC236}">
                <a16:creationId xmlns:a16="http://schemas.microsoft.com/office/drawing/2014/main" id="{DB05269D-4B96-5D9B-9E1B-F0C5992C07AD}"/>
              </a:ext>
            </a:extLst>
          </p:cNvPr>
          <p:cNvSpPr>
            <a:spLocks noGrp="1"/>
          </p:cNvSpPr>
          <p:nvPr>
            <p:ph idx="1"/>
          </p:nvPr>
        </p:nvSpPr>
        <p:spPr>
          <a:xfrm>
            <a:off x="2044285" y="484632"/>
            <a:ext cx="4485132" cy="5614416"/>
          </a:xfrm>
        </p:spPr>
        <p:txBody>
          <a:bodyPr>
            <a:normAutofit fontScale="92500" lnSpcReduction="10000"/>
          </a:bodyPr>
          <a:lstStyle/>
          <a:p>
            <a:r>
              <a:rPr lang="en-SG" dirty="0" err="1"/>
              <a:t>kf</a:t>
            </a:r>
            <a:r>
              <a:rPr lang="en-SG" dirty="0"/>
              <a:t> is first set up using </a:t>
            </a:r>
            <a:r>
              <a:rPr lang="en-SG" dirty="0" err="1"/>
              <a:t>StratifiedKFold</a:t>
            </a:r>
            <a:endParaRPr lang="en-SG" dirty="0"/>
          </a:p>
          <a:p>
            <a:r>
              <a:rPr lang="en-SG" dirty="0"/>
              <a:t>Dummy baseline is then created using </a:t>
            </a:r>
            <a:r>
              <a:rPr lang="en-SG" dirty="0" err="1"/>
              <a:t>DummyClassifier</a:t>
            </a:r>
            <a:r>
              <a:rPr lang="en-SG" dirty="0"/>
              <a:t>() and metrics are calculated using </a:t>
            </a:r>
            <a:r>
              <a:rPr lang="en-SG" dirty="0" err="1"/>
              <a:t>cross_val_score</a:t>
            </a:r>
            <a:r>
              <a:rPr lang="en-SG" dirty="0"/>
              <a:t>(). This is so that we can compare our models to this baseline later on.</a:t>
            </a:r>
          </a:p>
          <a:p>
            <a:r>
              <a:rPr lang="en-SG" dirty="0"/>
              <a:t>A total of 4 models are then evaluated using </a:t>
            </a:r>
            <a:r>
              <a:rPr lang="en-SG" dirty="0" err="1"/>
              <a:t>cross_val_score</a:t>
            </a:r>
            <a:r>
              <a:rPr lang="en-SG" dirty="0"/>
              <a:t>() using both original imbalanced data and </a:t>
            </a:r>
            <a:r>
              <a:rPr lang="en-SG" dirty="0" err="1"/>
              <a:t>undersampled</a:t>
            </a:r>
            <a:r>
              <a:rPr lang="en-SG" dirty="0"/>
              <a:t> data. Metrics are then compared using bar charts.</a:t>
            </a:r>
          </a:p>
          <a:p>
            <a:r>
              <a:rPr lang="en-SG" dirty="0"/>
              <a:t>Models performed better consistently on the </a:t>
            </a:r>
            <a:r>
              <a:rPr lang="en-SG" dirty="0" err="1"/>
              <a:t>undersampled</a:t>
            </a:r>
            <a:r>
              <a:rPr lang="en-SG" dirty="0"/>
              <a:t> data hence we compare </a:t>
            </a:r>
            <a:r>
              <a:rPr lang="en-SG" dirty="0" err="1"/>
              <a:t>undersampled</a:t>
            </a:r>
            <a:r>
              <a:rPr lang="en-SG" dirty="0"/>
              <a:t> data’s recall (Our primary metric) across all models to see which model performed the best.</a:t>
            </a:r>
          </a:p>
          <a:p>
            <a:r>
              <a:rPr lang="en-SG" dirty="0"/>
              <a:t>The 2 best models are then chosen to proceed with hyperparameter tuning.</a:t>
            </a:r>
          </a:p>
          <a:p>
            <a:endParaRPr lang="en-SG" dirty="0"/>
          </a:p>
        </p:txBody>
      </p:sp>
      <p:pic>
        <p:nvPicPr>
          <p:cNvPr id="7" name="Picture 6">
            <a:extLst>
              <a:ext uri="{FF2B5EF4-FFF2-40B4-BE49-F238E27FC236}">
                <a16:creationId xmlns:a16="http://schemas.microsoft.com/office/drawing/2014/main" id="{7AF5B8CC-E3F5-E882-8994-DDF81B0A06BA}"/>
              </a:ext>
            </a:extLst>
          </p:cNvPr>
          <p:cNvPicPr>
            <a:picLocks noChangeAspect="1"/>
          </p:cNvPicPr>
          <p:nvPr/>
        </p:nvPicPr>
        <p:blipFill>
          <a:blip r:embed="rId2"/>
          <a:stretch>
            <a:fillRect/>
          </a:stretch>
        </p:blipFill>
        <p:spPr>
          <a:xfrm>
            <a:off x="6915914" y="238652"/>
            <a:ext cx="5389588" cy="584308"/>
          </a:xfrm>
          <a:prstGeom prst="rect">
            <a:avLst/>
          </a:prstGeom>
        </p:spPr>
      </p:pic>
      <p:pic>
        <p:nvPicPr>
          <p:cNvPr id="13" name="Picture 12">
            <a:extLst>
              <a:ext uri="{FF2B5EF4-FFF2-40B4-BE49-F238E27FC236}">
                <a16:creationId xmlns:a16="http://schemas.microsoft.com/office/drawing/2014/main" id="{5A5508F5-71AB-F5E0-FD7B-5CBDF63FA462}"/>
              </a:ext>
            </a:extLst>
          </p:cNvPr>
          <p:cNvPicPr>
            <a:picLocks noChangeAspect="1"/>
          </p:cNvPicPr>
          <p:nvPr/>
        </p:nvPicPr>
        <p:blipFill>
          <a:blip r:embed="rId3"/>
          <a:stretch>
            <a:fillRect/>
          </a:stretch>
        </p:blipFill>
        <p:spPr>
          <a:xfrm>
            <a:off x="7512680" y="1073629"/>
            <a:ext cx="4196047" cy="1062518"/>
          </a:xfrm>
          <a:prstGeom prst="rect">
            <a:avLst/>
          </a:prstGeom>
        </p:spPr>
      </p:pic>
      <p:pic>
        <p:nvPicPr>
          <p:cNvPr id="17" name="Picture 16">
            <a:extLst>
              <a:ext uri="{FF2B5EF4-FFF2-40B4-BE49-F238E27FC236}">
                <a16:creationId xmlns:a16="http://schemas.microsoft.com/office/drawing/2014/main" id="{2E28AA3E-00AC-F838-4394-FA4763D5F4FB}"/>
              </a:ext>
            </a:extLst>
          </p:cNvPr>
          <p:cNvPicPr>
            <a:picLocks noChangeAspect="1"/>
          </p:cNvPicPr>
          <p:nvPr/>
        </p:nvPicPr>
        <p:blipFill>
          <a:blip r:embed="rId4"/>
          <a:srcRect t="2128" r="20277" b="-2128"/>
          <a:stretch>
            <a:fillRect/>
          </a:stretch>
        </p:blipFill>
        <p:spPr>
          <a:xfrm>
            <a:off x="7512684" y="2040662"/>
            <a:ext cx="4196047" cy="690337"/>
          </a:xfrm>
          <a:prstGeom prst="rect">
            <a:avLst/>
          </a:prstGeom>
        </p:spPr>
      </p:pic>
      <p:pic>
        <p:nvPicPr>
          <p:cNvPr id="20" name="Picture 19">
            <a:extLst>
              <a:ext uri="{FF2B5EF4-FFF2-40B4-BE49-F238E27FC236}">
                <a16:creationId xmlns:a16="http://schemas.microsoft.com/office/drawing/2014/main" id="{99FCBF28-E587-AC01-059D-9B4056B75770}"/>
              </a:ext>
            </a:extLst>
          </p:cNvPr>
          <p:cNvPicPr>
            <a:picLocks noChangeAspect="1"/>
          </p:cNvPicPr>
          <p:nvPr/>
        </p:nvPicPr>
        <p:blipFill>
          <a:blip r:embed="rId5"/>
          <a:stretch>
            <a:fillRect/>
          </a:stretch>
        </p:blipFill>
        <p:spPr>
          <a:xfrm>
            <a:off x="8025745" y="2898732"/>
            <a:ext cx="3169919" cy="1555448"/>
          </a:xfrm>
          <a:prstGeom prst="rect">
            <a:avLst/>
          </a:prstGeom>
        </p:spPr>
      </p:pic>
      <p:pic>
        <p:nvPicPr>
          <p:cNvPr id="24" name="Picture 23">
            <a:extLst>
              <a:ext uri="{FF2B5EF4-FFF2-40B4-BE49-F238E27FC236}">
                <a16:creationId xmlns:a16="http://schemas.microsoft.com/office/drawing/2014/main" id="{9DFA7CAC-5D74-0614-3C0D-53F1EC2505E7}"/>
              </a:ext>
            </a:extLst>
          </p:cNvPr>
          <p:cNvPicPr>
            <a:picLocks noChangeAspect="1"/>
          </p:cNvPicPr>
          <p:nvPr/>
        </p:nvPicPr>
        <p:blipFill>
          <a:blip r:embed="rId6"/>
          <a:stretch>
            <a:fillRect/>
          </a:stretch>
        </p:blipFill>
        <p:spPr>
          <a:xfrm>
            <a:off x="8089754" y="4704849"/>
            <a:ext cx="3105910" cy="1914499"/>
          </a:xfrm>
          <a:prstGeom prst="rect">
            <a:avLst/>
          </a:prstGeom>
        </p:spPr>
      </p:pic>
      <p:cxnSp>
        <p:nvCxnSpPr>
          <p:cNvPr id="26" name="Straight Arrow Connector 25">
            <a:extLst>
              <a:ext uri="{FF2B5EF4-FFF2-40B4-BE49-F238E27FC236}">
                <a16:creationId xmlns:a16="http://schemas.microsoft.com/office/drawing/2014/main" id="{54D6EBB9-4692-2B3B-43D9-29D071F10F8A}"/>
              </a:ext>
            </a:extLst>
          </p:cNvPr>
          <p:cNvCxnSpPr/>
          <p:nvPr/>
        </p:nvCxnSpPr>
        <p:spPr>
          <a:xfrm>
            <a:off x="9820656" y="822960"/>
            <a:ext cx="0" cy="2506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DA0EAD47-1A5B-7162-A36E-DEDE03ECF3EC}"/>
              </a:ext>
            </a:extLst>
          </p:cNvPr>
          <p:cNvCxnSpPr/>
          <p:nvPr/>
        </p:nvCxnSpPr>
        <p:spPr>
          <a:xfrm>
            <a:off x="9957816" y="2730999"/>
            <a:ext cx="0" cy="1677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B3AA425B-7F1F-40FE-6CDC-BA357F987B6D}"/>
              </a:ext>
            </a:extLst>
          </p:cNvPr>
          <p:cNvCxnSpPr/>
          <p:nvPr/>
        </p:nvCxnSpPr>
        <p:spPr>
          <a:xfrm>
            <a:off x="10094976" y="4454180"/>
            <a:ext cx="0" cy="2506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40876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BC6596-68E5-A783-1666-0628C931A2D9}"/>
              </a:ext>
            </a:extLst>
          </p:cNvPr>
          <p:cNvSpPr>
            <a:spLocks noGrp="1"/>
          </p:cNvSpPr>
          <p:nvPr>
            <p:ph idx="1"/>
          </p:nvPr>
        </p:nvSpPr>
        <p:spPr>
          <a:xfrm>
            <a:off x="1830260" y="1477236"/>
            <a:ext cx="4095052" cy="4512083"/>
          </a:xfrm>
        </p:spPr>
        <p:txBody>
          <a:bodyPr>
            <a:normAutofit fontScale="85000" lnSpcReduction="10000"/>
          </a:bodyPr>
          <a:lstStyle/>
          <a:p>
            <a:r>
              <a:rPr lang="en-SG" dirty="0" err="1"/>
              <a:t>kf</a:t>
            </a:r>
            <a:r>
              <a:rPr lang="en-SG" dirty="0"/>
              <a:t> is first set up using </a:t>
            </a:r>
            <a:r>
              <a:rPr lang="en-SG" dirty="0" err="1"/>
              <a:t>Kfold</a:t>
            </a:r>
            <a:endParaRPr lang="en-SG" dirty="0"/>
          </a:p>
          <a:p>
            <a:r>
              <a:rPr lang="en-SG" dirty="0"/>
              <a:t>5 models are then chosen alongside dummy regressor to be evaluated using </a:t>
            </a:r>
            <a:r>
              <a:rPr lang="en-SG" dirty="0" err="1"/>
              <a:t>cross_val_predict</a:t>
            </a:r>
            <a:r>
              <a:rPr lang="en-SG" dirty="0"/>
              <a:t>().</a:t>
            </a:r>
          </a:p>
          <a:p>
            <a:r>
              <a:rPr lang="en-SG" dirty="0"/>
              <a:t>Since log transformation was applied to target feature, extra steps were taken to calculate actual metrics.</a:t>
            </a:r>
          </a:p>
          <a:p>
            <a:r>
              <a:rPr lang="en-SG" dirty="0"/>
              <a:t>MAPE is then compared across all models using a bar chart.</a:t>
            </a:r>
          </a:p>
          <a:p>
            <a:r>
              <a:rPr lang="en-SG" dirty="0"/>
              <a:t>Actual vs Predicted and Residuals vs Predicted plots are also plotted for the 3 best models (Lowest MAPE) to understand whether predictions are accurate and whether model errors are random or patterned.</a:t>
            </a:r>
          </a:p>
          <a:p>
            <a:r>
              <a:rPr lang="en-SG" dirty="0"/>
              <a:t>Best 3 models are then chosen to proceed with hyperparameter tuning.</a:t>
            </a:r>
          </a:p>
          <a:p>
            <a:endParaRPr lang="en-SG" dirty="0"/>
          </a:p>
        </p:txBody>
      </p:sp>
      <p:sp>
        <p:nvSpPr>
          <p:cNvPr id="5" name="TextBox 4">
            <a:extLst>
              <a:ext uri="{FF2B5EF4-FFF2-40B4-BE49-F238E27FC236}">
                <a16:creationId xmlns:a16="http://schemas.microsoft.com/office/drawing/2014/main" id="{1B919558-DB76-C250-4245-835B94B46A6A}"/>
              </a:ext>
            </a:extLst>
          </p:cNvPr>
          <p:cNvSpPr txBox="1"/>
          <p:nvPr/>
        </p:nvSpPr>
        <p:spPr>
          <a:xfrm>
            <a:off x="2023110" y="439866"/>
            <a:ext cx="6094476" cy="369332"/>
          </a:xfrm>
          <a:prstGeom prst="rect">
            <a:avLst/>
          </a:prstGeom>
          <a:noFill/>
        </p:spPr>
        <p:txBody>
          <a:bodyPr wrap="square">
            <a:spAutoFit/>
          </a:bodyPr>
          <a:lstStyle/>
          <a:p>
            <a:r>
              <a:rPr lang="en-SG" sz="1800" dirty="0"/>
              <a:t>Model evaluation (Part B)</a:t>
            </a:r>
            <a:endParaRPr lang="en-SG" dirty="0"/>
          </a:p>
        </p:txBody>
      </p:sp>
      <p:pic>
        <p:nvPicPr>
          <p:cNvPr id="7" name="Picture 6">
            <a:extLst>
              <a:ext uri="{FF2B5EF4-FFF2-40B4-BE49-F238E27FC236}">
                <a16:creationId xmlns:a16="http://schemas.microsoft.com/office/drawing/2014/main" id="{61F75792-CD5E-5239-AC9E-17DA9F2B134D}"/>
              </a:ext>
            </a:extLst>
          </p:cNvPr>
          <p:cNvPicPr>
            <a:picLocks noChangeAspect="1"/>
          </p:cNvPicPr>
          <p:nvPr/>
        </p:nvPicPr>
        <p:blipFill>
          <a:blip r:embed="rId2"/>
          <a:stretch>
            <a:fillRect/>
          </a:stretch>
        </p:blipFill>
        <p:spPr>
          <a:xfrm>
            <a:off x="6992621" y="100355"/>
            <a:ext cx="3959538" cy="384082"/>
          </a:xfrm>
          <a:prstGeom prst="rect">
            <a:avLst/>
          </a:prstGeom>
        </p:spPr>
      </p:pic>
      <p:pic>
        <p:nvPicPr>
          <p:cNvPr id="9" name="Picture 8">
            <a:extLst>
              <a:ext uri="{FF2B5EF4-FFF2-40B4-BE49-F238E27FC236}">
                <a16:creationId xmlns:a16="http://schemas.microsoft.com/office/drawing/2014/main" id="{8A2AA39C-FD24-C0D0-7E76-827FF9DF912C}"/>
              </a:ext>
            </a:extLst>
          </p:cNvPr>
          <p:cNvPicPr>
            <a:picLocks noChangeAspect="1"/>
          </p:cNvPicPr>
          <p:nvPr/>
        </p:nvPicPr>
        <p:blipFill>
          <a:blip r:embed="rId3"/>
          <a:stretch>
            <a:fillRect/>
          </a:stretch>
        </p:blipFill>
        <p:spPr>
          <a:xfrm>
            <a:off x="7643043" y="1757426"/>
            <a:ext cx="2658693" cy="1048758"/>
          </a:xfrm>
          <a:prstGeom prst="rect">
            <a:avLst/>
          </a:prstGeom>
        </p:spPr>
      </p:pic>
      <p:pic>
        <p:nvPicPr>
          <p:cNvPr id="11" name="Picture 10">
            <a:extLst>
              <a:ext uri="{FF2B5EF4-FFF2-40B4-BE49-F238E27FC236}">
                <a16:creationId xmlns:a16="http://schemas.microsoft.com/office/drawing/2014/main" id="{95187B47-5723-2D41-9094-839D9DF0B201}"/>
              </a:ext>
            </a:extLst>
          </p:cNvPr>
          <p:cNvPicPr>
            <a:picLocks noChangeAspect="1"/>
          </p:cNvPicPr>
          <p:nvPr/>
        </p:nvPicPr>
        <p:blipFill>
          <a:blip r:embed="rId4"/>
          <a:stretch>
            <a:fillRect/>
          </a:stretch>
        </p:blipFill>
        <p:spPr>
          <a:xfrm>
            <a:off x="7202069" y="764626"/>
            <a:ext cx="3496055" cy="712611"/>
          </a:xfrm>
          <a:prstGeom prst="rect">
            <a:avLst/>
          </a:prstGeom>
        </p:spPr>
      </p:pic>
      <p:pic>
        <p:nvPicPr>
          <p:cNvPr id="13" name="Picture 12">
            <a:extLst>
              <a:ext uri="{FF2B5EF4-FFF2-40B4-BE49-F238E27FC236}">
                <a16:creationId xmlns:a16="http://schemas.microsoft.com/office/drawing/2014/main" id="{BCBBB0D4-FB77-203B-AB69-BB6D363348A8}"/>
              </a:ext>
            </a:extLst>
          </p:cNvPr>
          <p:cNvPicPr>
            <a:picLocks noChangeAspect="1"/>
          </p:cNvPicPr>
          <p:nvPr/>
        </p:nvPicPr>
        <p:blipFill>
          <a:blip r:embed="rId5"/>
          <a:stretch>
            <a:fillRect/>
          </a:stretch>
        </p:blipFill>
        <p:spPr>
          <a:xfrm>
            <a:off x="7706707" y="3163801"/>
            <a:ext cx="2531366" cy="1560599"/>
          </a:xfrm>
          <a:prstGeom prst="rect">
            <a:avLst/>
          </a:prstGeom>
        </p:spPr>
      </p:pic>
      <p:pic>
        <p:nvPicPr>
          <p:cNvPr id="15" name="Picture 14">
            <a:extLst>
              <a:ext uri="{FF2B5EF4-FFF2-40B4-BE49-F238E27FC236}">
                <a16:creationId xmlns:a16="http://schemas.microsoft.com/office/drawing/2014/main" id="{F61AC00F-26B3-AC2E-9981-29447B012910}"/>
              </a:ext>
            </a:extLst>
          </p:cNvPr>
          <p:cNvPicPr>
            <a:picLocks noChangeAspect="1"/>
          </p:cNvPicPr>
          <p:nvPr/>
        </p:nvPicPr>
        <p:blipFill>
          <a:blip r:embed="rId6"/>
          <a:stretch>
            <a:fillRect/>
          </a:stretch>
        </p:blipFill>
        <p:spPr>
          <a:xfrm>
            <a:off x="6992621" y="4929865"/>
            <a:ext cx="3781767" cy="1560599"/>
          </a:xfrm>
          <a:prstGeom prst="rect">
            <a:avLst/>
          </a:prstGeom>
        </p:spPr>
      </p:pic>
      <p:cxnSp>
        <p:nvCxnSpPr>
          <p:cNvPr id="17" name="Straight Arrow Connector 16">
            <a:extLst>
              <a:ext uri="{FF2B5EF4-FFF2-40B4-BE49-F238E27FC236}">
                <a16:creationId xmlns:a16="http://schemas.microsoft.com/office/drawing/2014/main" id="{63D084AD-C498-4F5D-1A0D-1BE214E3989D}"/>
              </a:ext>
            </a:extLst>
          </p:cNvPr>
          <p:cNvCxnSpPr>
            <a:stCxn id="7" idx="2"/>
            <a:endCxn id="11" idx="0"/>
          </p:cNvCxnSpPr>
          <p:nvPr/>
        </p:nvCxnSpPr>
        <p:spPr>
          <a:xfrm flipH="1">
            <a:off x="8950097" y="484437"/>
            <a:ext cx="22293" cy="2801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5FAA8E26-E761-B3EB-F8F4-855B9E374A7C}"/>
              </a:ext>
            </a:extLst>
          </p:cNvPr>
          <p:cNvCxnSpPr/>
          <p:nvPr/>
        </p:nvCxnSpPr>
        <p:spPr>
          <a:xfrm flipH="1">
            <a:off x="10071761" y="1439875"/>
            <a:ext cx="22293" cy="2801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88E1CBC1-E2D6-7441-E3CE-2687087F4523}"/>
              </a:ext>
            </a:extLst>
          </p:cNvPr>
          <p:cNvCxnSpPr/>
          <p:nvPr/>
        </p:nvCxnSpPr>
        <p:spPr>
          <a:xfrm flipH="1">
            <a:off x="9641993" y="2843546"/>
            <a:ext cx="22293" cy="2801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1DA4EBD5-7745-1EBF-826B-44B6FCD0594A}"/>
              </a:ext>
            </a:extLst>
          </p:cNvPr>
          <p:cNvCxnSpPr/>
          <p:nvPr/>
        </p:nvCxnSpPr>
        <p:spPr>
          <a:xfrm flipH="1">
            <a:off x="9733433" y="4691564"/>
            <a:ext cx="22293" cy="2801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637473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99C40DB-0B15-DB69-92C0-99FFE8E3768A}"/>
              </a:ext>
            </a:extLst>
          </p:cNvPr>
          <p:cNvSpPr>
            <a:spLocks noGrp="1"/>
          </p:cNvSpPr>
          <p:nvPr>
            <p:ph idx="1"/>
          </p:nvPr>
        </p:nvSpPr>
        <p:spPr>
          <a:xfrm>
            <a:off x="2093215" y="1045464"/>
            <a:ext cx="3780282" cy="5062728"/>
          </a:xfrm>
        </p:spPr>
        <p:txBody>
          <a:bodyPr>
            <a:normAutofit lnSpcReduction="10000"/>
          </a:bodyPr>
          <a:lstStyle/>
          <a:p>
            <a:r>
              <a:rPr lang="en-SG" dirty="0"/>
              <a:t>Decision Tree and Random Forest Classifier were chosen for hyperparameter tuning due to them having higher recall scores.</a:t>
            </a:r>
          </a:p>
          <a:p>
            <a:r>
              <a:rPr lang="en-SG" dirty="0" err="1"/>
              <a:t>GridSearchCV</a:t>
            </a:r>
            <a:r>
              <a:rPr lang="en-SG" dirty="0"/>
              <a:t> was used to search for the best parameters to maximise recall.</a:t>
            </a:r>
          </a:p>
          <a:p>
            <a:r>
              <a:rPr lang="en-SG" dirty="0"/>
              <a:t>Cross validation is then used to evaluate model’s performance and a bar chart is then plotted to compare results from tuned and untuned models. It can be seen that both models have increased recall scores after hyperparameter tuning.</a:t>
            </a:r>
          </a:p>
        </p:txBody>
      </p:sp>
      <p:sp>
        <p:nvSpPr>
          <p:cNvPr id="4" name="TextBox 3">
            <a:extLst>
              <a:ext uri="{FF2B5EF4-FFF2-40B4-BE49-F238E27FC236}">
                <a16:creationId xmlns:a16="http://schemas.microsoft.com/office/drawing/2014/main" id="{CBFDE6BA-16C1-86EC-1E78-DB3C5627D0CF}"/>
              </a:ext>
            </a:extLst>
          </p:cNvPr>
          <p:cNvSpPr txBox="1"/>
          <p:nvPr/>
        </p:nvSpPr>
        <p:spPr>
          <a:xfrm>
            <a:off x="2315718" y="348426"/>
            <a:ext cx="6094476" cy="369332"/>
          </a:xfrm>
          <a:prstGeom prst="rect">
            <a:avLst/>
          </a:prstGeom>
          <a:noFill/>
        </p:spPr>
        <p:txBody>
          <a:bodyPr wrap="square">
            <a:spAutoFit/>
          </a:bodyPr>
          <a:lstStyle/>
          <a:p>
            <a:r>
              <a:rPr lang="en-SG" dirty="0"/>
              <a:t>Hyperparameter Tuning</a:t>
            </a:r>
            <a:r>
              <a:rPr lang="en-SG" sz="1800" dirty="0"/>
              <a:t> (Part </a:t>
            </a:r>
            <a:r>
              <a:rPr lang="en-SG" dirty="0"/>
              <a:t>A</a:t>
            </a:r>
            <a:r>
              <a:rPr lang="en-SG" sz="1800" dirty="0"/>
              <a:t>)</a:t>
            </a:r>
            <a:endParaRPr lang="en-SG" dirty="0"/>
          </a:p>
        </p:txBody>
      </p:sp>
      <p:pic>
        <p:nvPicPr>
          <p:cNvPr id="6" name="Picture 5">
            <a:extLst>
              <a:ext uri="{FF2B5EF4-FFF2-40B4-BE49-F238E27FC236}">
                <a16:creationId xmlns:a16="http://schemas.microsoft.com/office/drawing/2014/main" id="{D2164944-3E7A-32E3-18B9-4782A6981D00}"/>
              </a:ext>
            </a:extLst>
          </p:cNvPr>
          <p:cNvPicPr>
            <a:picLocks noChangeAspect="1"/>
          </p:cNvPicPr>
          <p:nvPr/>
        </p:nvPicPr>
        <p:blipFill>
          <a:blip r:embed="rId2"/>
          <a:stretch>
            <a:fillRect/>
          </a:stretch>
        </p:blipFill>
        <p:spPr>
          <a:xfrm>
            <a:off x="6508588" y="1045464"/>
            <a:ext cx="5497744" cy="1202809"/>
          </a:xfrm>
          <a:prstGeom prst="rect">
            <a:avLst/>
          </a:prstGeom>
        </p:spPr>
      </p:pic>
      <p:pic>
        <p:nvPicPr>
          <p:cNvPr id="9" name="Picture 8">
            <a:extLst>
              <a:ext uri="{FF2B5EF4-FFF2-40B4-BE49-F238E27FC236}">
                <a16:creationId xmlns:a16="http://schemas.microsoft.com/office/drawing/2014/main" id="{EABC40FA-AF7C-E15A-F096-A846ED4D93F9}"/>
              </a:ext>
            </a:extLst>
          </p:cNvPr>
          <p:cNvPicPr>
            <a:picLocks noChangeAspect="1"/>
          </p:cNvPicPr>
          <p:nvPr/>
        </p:nvPicPr>
        <p:blipFill>
          <a:blip r:embed="rId3"/>
          <a:stretch>
            <a:fillRect/>
          </a:stretch>
        </p:blipFill>
        <p:spPr>
          <a:xfrm>
            <a:off x="6995159" y="2976470"/>
            <a:ext cx="4286859" cy="2836066"/>
          </a:xfrm>
          <a:prstGeom prst="rect">
            <a:avLst/>
          </a:prstGeom>
        </p:spPr>
      </p:pic>
    </p:spTree>
    <p:extLst>
      <p:ext uri="{BB962C8B-B14F-4D97-AF65-F5344CB8AC3E}">
        <p14:creationId xmlns:p14="http://schemas.microsoft.com/office/powerpoint/2010/main" val="6896720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53FC7CD-596C-F878-734A-D7B00A6EF4BE}"/>
              </a:ext>
            </a:extLst>
          </p:cNvPr>
          <p:cNvSpPr>
            <a:spLocks noGrp="1"/>
          </p:cNvSpPr>
          <p:nvPr>
            <p:ph idx="1"/>
          </p:nvPr>
        </p:nvSpPr>
        <p:spPr>
          <a:xfrm>
            <a:off x="1638300" y="1237488"/>
            <a:ext cx="5631180" cy="3777622"/>
          </a:xfrm>
        </p:spPr>
        <p:txBody>
          <a:bodyPr>
            <a:normAutofit fontScale="77500" lnSpcReduction="20000"/>
          </a:bodyPr>
          <a:lstStyle/>
          <a:p>
            <a:r>
              <a:rPr lang="en-SG" dirty="0"/>
              <a:t>Linear Regression, Ridge Regression and Random Forest Regressor were chosen for hyperparameter tuning due to them having lower MAPE scores.</a:t>
            </a:r>
          </a:p>
          <a:p>
            <a:r>
              <a:rPr lang="en-SG" dirty="0" err="1"/>
              <a:t>GridSearchCV</a:t>
            </a:r>
            <a:r>
              <a:rPr lang="en-SG" dirty="0"/>
              <a:t> is then used to search for best parameters to improve MAE score.</a:t>
            </a:r>
          </a:p>
          <a:p>
            <a:r>
              <a:rPr lang="en-SG" dirty="0"/>
              <a:t>Tuned models are then evaluated using </a:t>
            </a:r>
            <a:r>
              <a:rPr lang="en-SG" dirty="0" err="1"/>
              <a:t>cross_val_predict</a:t>
            </a:r>
            <a:r>
              <a:rPr lang="en-SG" dirty="0"/>
              <a:t>() again to compare scores to untuned models. </a:t>
            </a:r>
          </a:p>
          <a:p>
            <a:r>
              <a:rPr lang="en-SG" dirty="0"/>
              <a:t>It can be seen that Linear Regression had no improvement due to parameter space being too small, Ridge regression improving only slightly, most likely because model was already close to optimal pre-tune and random forest had the most improvement out of the three.</a:t>
            </a:r>
          </a:p>
          <a:p>
            <a:r>
              <a:rPr lang="en-SG" dirty="0"/>
              <a:t>Actual vs Predicted and Residuals vs Predicted plots are also plotted again to visualise prediction accuracy and error patterns.</a:t>
            </a:r>
          </a:p>
          <a:p>
            <a:r>
              <a:rPr lang="en-SG" dirty="0"/>
              <a:t>Residual Distribution graph is also plotted to see whether model is biased or not.</a:t>
            </a:r>
          </a:p>
          <a:p>
            <a:endParaRPr lang="en-SG" dirty="0"/>
          </a:p>
        </p:txBody>
      </p:sp>
      <p:sp>
        <p:nvSpPr>
          <p:cNvPr id="4" name="TextBox 3">
            <a:extLst>
              <a:ext uri="{FF2B5EF4-FFF2-40B4-BE49-F238E27FC236}">
                <a16:creationId xmlns:a16="http://schemas.microsoft.com/office/drawing/2014/main" id="{E09E3F7C-5B76-A399-6DA8-26021615C531}"/>
              </a:ext>
            </a:extLst>
          </p:cNvPr>
          <p:cNvSpPr txBox="1"/>
          <p:nvPr/>
        </p:nvSpPr>
        <p:spPr>
          <a:xfrm>
            <a:off x="1638300" y="294562"/>
            <a:ext cx="6094476" cy="369332"/>
          </a:xfrm>
          <a:prstGeom prst="rect">
            <a:avLst/>
          </a:prstGeom>
          <a:noFill/>
        </p:spPr>
        <p:txBody>
          <a:bodyPr wrap="square">
            <a:spAutoFit/>
          </a:bodyPr>
          <a:lstStyle/>
          <a:p>
            <a:r>
              <a:rPr lang="en-SG" dirty="0"/>
              <a:t>Hyperparameter Tuning</a:t>
            </a:r>
            <a:r>
              <a:rPr lang="en-SG" sz="1800" dirty="0"/>
              <a:t> (Part B)</a:t>
            </a:r>
            <a:endParaRPr lang="en-SG" dirty="0"/>
          </a:p>
        </p:txBody>
      </p:sp>
      <p:pic>
        <p:nvPicPr>
          <p:cNvPr id="6" name="Picture 5">
            <a:extLst>
              <a:ext uri="{FF2B5EF4-FFF2-40B4-BE49-F238E27FC236}">
                <a16:creationId xmlns:a16="http://schemas.microsoft.com/office/drawing/2014/main" id="{E25B6F3C-0784-64EC-4408-EEC7408E2A1B}"/>
              </a:ext>
            </a:extLst>
          </p:cNvPr>
          <p:cNvPicPr>
            <a:picLocks noChangeAspect="1"/>
          </p:cNvPicPr>
          <p:nvPr/>
        </p:nvPicPr>
        <p:blipFill>
          <a:blip r:embed="rId2"/>
          <a:stretch>
            <a:fillRect/>
          </a:stretch>
        </p:blipFill>
        <p:spPr>
          <a:xfrm>
            <a:off x="7853723" y="1210895"/>
            <a:ext cx="3959352" cy="477451"/>
          </a:xfrm>
          <a:prstGeom prst="rect">
            <a:avLst/>
          </a:prstGeom>
        </p:spPr>
      </p:pic>
      <p:pic>
        <p:nvPicPr>
          <p:cNvPr id="7" name="Picture 6">
            <a:extLst>
              <a:ext uri="{FF2B5EF4-FFF2-40B4-BE49-F238E27FC236}">
                <a16:creationId xmlns:a16="http://schemas.microsoft.com/office/drawing/2014/main" id="{E48006B9-3307-716E-BA8D-17DF05D5C076}"/>
              </a:ext>
            </a:extLst>
          </p:cNvPr>
          <p:cNvPicPr>
            <a:picLocks noChangeAspect="1"/>
          </p:cNvPicPr>
          <p:nvPr/>
        </p:nvPicPr>
        <p:blipFill>
          <a:blip r:embed="rId3"/>
          <a:stretch>
            <a:fillRect/>
          </a:stretch>
        </p:blipFill>
        <p:spPr>
          <a:xfrm>
            <a:off x="7853723" y="113297"/>
            <a:ext cx="3959352" cy="1101195"/>
          </a:xfrm>
          <a:prstGeom prst="rect">
            <a:avLst/>
          </a:prstGeom>
        </p:spPr>
      </p:pic>
      <p:pic>
        <p:nvPicPr>
          <p:cNvPr id="9" name="Picture 8">
            <a:extLst>
              <a:ext uri="{FF2B5EF4-FFF2-40B4-BE49-F238E27FC236}">
                <a16:creationId xmlns:a16="http://schemas.microsoft.com/office/drawing/2014/main" id="{7D0C84E6-7211-73DE-EC26-E4AE427CEAC8}"/>
              </a:ext>
            </a:extLst>
          </p:cNvPr>
          <p:cNvPicPr>
            <a:picLocks noChangeAspect="1"/>
          </p:cNvPicPr>
          <p:nvPr/>
        </p:nvPicPr>
        <p:blipFill>
          <a:blip r:embed="rId4"/>
          <a:stretch>
            <a:fillRect/>
          </a:stretch>
        </p:blipFill>
        <p:spPr>
          <a:xfrm>
            <a:off x="8063196" y="1962862"/>
            <a:ext cx="3749879" cy="1217352"/>
          </a:xfrm>
          <a:prstGeom prst="rect">
            <a:avLst/>
          </a:prstGeom>
        </p:spPr>
      </p:pic>
      <p:pic>
        <p:nvPicPr>
          <p:cNvPr id="11" name="Picture 10">
            <a:extLst>
              <a:ext uri="{FF2B5EF4-FFF2-40B4-BE49-F238E27FC236}">
                <a16:creationId xmlns:a16="http://schemas.microsoft.com/office/drawing/2014/main" id="{2996E84E-189F-4DAD-E87C-73840C6E7C6E}"/>
              </a:ext>
            </a:extLst>
          </p:cNvPr>
          <p:cNvPicPr>
            <a:picLocks noChangeAspect="1"/>
          </p:cNvPicPr>
          <p:nvPr/>
        </p:nvPicPr>
        <p:blipFill>
          <a:blip r:embed="rId5"/>
          <a:stretch>
            <a:fillRect/>
          </a:stretch>
        </p:blipFill>
        <p:spPr>
          <a:xfrm>
            <a:off x="8325987" y="3424054"/>
            <a:ext cx="3224296" cy="1925375"/>
          </a:xfrm>
          <a:prstGeom prst="rect">
            <a:avLst/>
          </a:prstGeom>
        </p:spPr>
      </p:pic>
      <p:pic>
        <p:nvPicPr>
          <p:cNvPr id="13" name="Picture 12">
            <a:extLst>
              <a:ext uri="{FF2B5EF4-FFF2-40B4-BE49-F238E27FC236}">
                <a16:creationId xmlns:a16="http://schemas.microsoft.com/office/drawing/2014/main" id="{22F25DB9-E480-5B67-DCD2-06DF01934788}"/>
              </a:ext>
            </a:extLst>
          </p:cNvPr>
          <p:cNvPicPr>
            <a:picLocks noChangeAspect="1"/>
          </p:cNvPicPr>
          <p:nvPr/>
        </p:nvPicPr>
        <p:blipFill>
          <a:blip r:embed="rId6"/>
          <a:stretch>
            <a:fillRect/>
          </a:stretch>
        </p:blipFill>
        <p:spPr>
          <a:xfrm>
            <a:off x="1328482" y="5015110"/>
            <a:ext cx="4155413" cy="1713994"/>
          </a:xfrm>
          <a:prstGeom prst="rect">
            <a:avLst/>
          </a:prstGeom>
        </p:spPr>
      </p:pic>
      <p:pic>
        <p:nvPicPr>
          <p:cNvPr id="15" name="Picture 14">
            <a:extLst>
              <a:ext uri="{FF2B5EF4-FFF2-40B4-BE49-F238E27FC236}">
                <a16:creationId xmlns:a16="http://schemas.microsoft.com/office/drawing/2014/main" id="{3F39CDC0-1FCC-5474-5C20-C07B318FFC2F}"/>
              </a:ext>
            </a:extLst>
          </p:cNvPr>
          <p:cNvPicPr>
            <a:picLocks noChangeAspect="1"/>
          </p:cNvPicPr>
          <p:nvPr/>
        </p:nvPicPr>
        <p:blipFill>
          <a:blip r:embed="rId7"/>
          <a:stretch>
            <a:fillRect/>
          </a:stretch>
        </p:blipFill>
        <p:spPr>
          <a:xfrm>
            <a:off x="5855543" y="5015110"/>
            <a:ext cx="2080507" cy="1741984"/>
          </a:xfrm>
          <a:prstGeom prst="rect">
            <a:avLst/>
          </a:prstGeom>
        </p:spPr>
      </p:pic>
    </p:spTree>
    <p:extLst>
      <p:ext uri="{BB962C8B-B14F-4D97-AF65-F5344CB8AC3E}">
        <p14:creationId xmlns:p14="http://schemas.microsoft.com/office/powerpoint/2010/main" val="13420870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B0E1CE4-E069-0D6D-A385-1B4B4B8E71F6}"/>
              </a:ext>
            </a:extLst>
          </p:cNvPr>
          <p:cNvSpPr>
            <a:spLocks noGrp="1"/>
          </p:cNvSpPr>
          <p:nvPr>
            <p:ph idx="1"/>
          </p:nvPr>
        </p:nvSpPr>
        <p:spPr>
          <a:xfrm>
            <a:off x="2084040" y="157095"/>
            <a:ext cx="8852184" cy="2169839"/>
          </a:xfrm>
        </p:spPr>
        <p:txBody>
          <a:bodyPr>
            <a:normAutofit fontScale="55000" lnSpcReduction="20000"/>
          </a:bodyPr>
          <a:lstStyle/>
          <a:p>
            <a:r>
              <a:rPr lang="en-SG" dirty="0"/>
              <a:t>Part A</a:t>
            </a:r>
          </a:p>
          <a:p>
            <a:pPr lvl="1"/>
            <a:r>
              <a:rPr lang="en-SG" dirty="0"/>
              <a:t>Chose random forest as it has the best results after hyperparameter tuning</a:t>
            </a:r>
          </a:p>
          <a:p>
            <a:pPr lvl="1"/>
            <a:r>
              <a:rPr lang="en-SG" dirty="0"/>
              <a:t>Compared tuned cv to tuned test results to check reliability.</a:t>
            </a:r>
          </a:p>
          <a:p>
            <a:pPr lvl="1"/>
            <a:r>
              <a:rPr lang="en-SG" dirty="0"/>
              <a:t>Recall is shown to be lower.</a:t>
            </a:r>
          </a:p>
          <a:p>
            <a:r>
              <a:rPr lang="en-SG" dirty="0"/>
              <a:t>Part B</a:t>
            </a:r>
          </a:p>
          <a:p>
            <a:pPr lvl="1"/>
            <a:r>
              <a:rPr lang="en-SG" dirty="0"/>
              <a:t>Chose random forest as it has the best results after hyperparameter tuning.</a:t>
            </a:r>
          </a:p>
          <a:p>
            <a:pPr lvl="1"/>
            <a:r>
              <a:rPr lang="en-SG" dirty="0"/>
              <a:t>Compared tuned cv to tuned test to check reliability.</a:t>
            </a:r>
          </a:p>
          <a:p>
            <a:pPr lvl="1"/>
            <a:r>
              <a:rPr lang="en-SG" dirty="0"/>
              <a:t>Model on test set did slightly worse but is expected as test result contains unseen data.</a:t>
            </a:r>
          </a:p>
          <a:p>
            <a:pPr lvl="1"/>
            <a:r>
              <a:rPr lang="en-SG" dirty="0"/>
              <a:t>Model still retains reasonable predictive accuracy and generalises quite well.</a:t>
            </a:r>
          </a:p>
        </p:txBody>
      </p:sp>
      <p:sp>
        <p:nvSpPr>
          <p:cNvPr id="5" name="TextBox 4">
            <a:extLst>
              <a:ext uri="{FF2B5EF4-FFF2-40B4-BE49-F238E27FC236}">
                <a16:creationId xmlns:a16="http://schemas.microsoft.com/office/drawing/2014/main" id="{0C3CAAE5-EEF2-25A0-36E1-D74BF87E2CDE}"/>
              </a:ext>
            </a:extLst>
          </p:cNvPr>
          <p:cNvSpPr txBox="1"/>
          <p:nvPr/>
        </p:nvSpPr>
        <p:spPr>
          <a:xfrm>
            <a:off x="586710" y="18835"/>
            <a:ext cx="6094476" cy="369332"/>
          </a:xfrm>
          <a:prstGeom prst="rect">
            <a:avLst/>
          </a:prstGeom>
          <a:noFill/>
        </p:spPr>
        <p:txBody>
          <a:bodyPr wrap="square">
            <a:spAutoFit/>
          </a:bodyPr>
          <a:lstStyle/>
          <a:p>
            <a:r>
              <a:rPr lang="en-SG" dirty="0"/>
              <a:t>Conclusion</a:t>
            </a:r>
          </a:p>
        </p:txBody>
      </p:sp>
      <p:pic>
        <p:nvPicPr>
          <p:cNvPr id="9" name="Picture 8">
            <a:extLst>
              <a:ext uri="{FF2B5EF4-FFF2-40B4-BE49-F238E27FC236}">
                <a16:creationId xmlns:a16="http://schemas.microsoft.com/office/drawing/2014/main" id="{82484D44-2C75-BCE4-9673-4D3AD076D19D}"/>
              </a:ext>
            </a:extLst>
          </p:cNvPr>
          <p:cNvPicPr>
            <a:picLocks noChangeAspect="1"/>
          </p:cNvPicPr>
          <p:nvPr/>
        </p:nvPicPr>
        <p:blipFill>
          <a:blip r:embed="rId2"/>
          <a:stretch>
            <a:fillRect/>
          </a:stretch>
        </p:blipFill>
        <p:spPr>
          <a:xfrm>
            <a:off x="9117238" y="1824366"/>
            <a:ext cx="2634812" cy="1648758"/>
          </a:xfrm>
          <a:prstGeom prst="rect">
            <a:avLst/>
          </a:prstGeom>
        </p:spPr>
      </p:pic>
      <p:pic>
        <p:nvPicPr>
          <p:cNvPr id="11" name="Picture 10">
            <a:extLst>
              <a:ext uri="{FF2B5EF4-FFF2-40B4-BE49-F238E27FC236}">
                <a16:creationId xmlns:a16="http://schemas.microsoft.com/office/drawing/2014/main" id="{5C80C06C-5F91-1367-9725-B47C00D15E4B}"/>
              </a:ext>
            </a:extLst>
          </p:cNvPr>
          <p:cNvPicPr>
            <a:picLocks noChangeAspect="1"/>
          </p:cNvPicPr>
          <p:nvPr/>
        </p:nvPicPr>
        <p:blipFill>
          <a:blip r:embed="rId3"/>
          <a:stretch>
            <a:fillRect/>
          </a:stretch>
        </p:blipFill>
        <p:spPr>
          <a:xfrm>
            <a:off x="8900796" y="18835"/>
            <a:ext cx="2859728" cy="1691405"/>
          </a:xfrm>
          <a:prstGeom prst="rect">
            <a:avLst/>
          </a:prstGeom>
        </p:spPr>
      </p:pic>
      <p:pic>
        <p:nvPicPr>
          <p:cNvPr id="15" name="Picture 14">
            <a:extLst>
              <a:ext uri="{FF2B5EF4-FFF2-40B4-BE49-F238E27FC236}">
                <a16:creationId xmlns:a16="http://schemas.microsoft.com/office/drawing/2014/main" id="{97546DC2-6E1A-E68C-75F4-D3CAA0E425BF}"/>
              </a:ext>
            </a:extLst>
          </p:cNvPr>
          <p:cNvPicPr>
            <a:picLocks noChangeAspect="1"/>
          </p:cNvPicPr>
          <p:nvPr/>
        </p:nvPicPr>
        <p:blipFill>
          <a:blip r:embed="rId4"/>
          <a:stretch>
            <a:fillRect/>
          </a:stretch>
        </p:blipFill>
        <p:spPr>
          <a:xfrm>
            <a:off x="9410099" y="5113467"/>
            <a:ext cx="2350425" cy="1402549"/>
          </a:xfrm>
          <a:prstGeom prst="rect">
            <a:avLst/>
          </a:prstGeom>
        </p:spPr>
      </p:pic>
      <p:pic>
        <p:nvPicPr>
          <p:cNvPr id="17" name="Picture 16">
            <a:extLst>
              <a:ext uri="{FF2B5EF4-FFF2-40B4-BE49-F238E27FC236}">
                <a16:creationId xmlns:a16="http://schemas.microsoft.com/office/drawing/2014/main" id="{1368BB3C-11AE-664C-46D4-8A42D53013F5}"/>
              </a:ext>
            </a:extLst>
          </p:cNvPr>
          <p:cNvPicPr>
            <a:picLocks noChangeAspect="1"/>
          </p:cNvPicPr>
          <p:nvPr/>
        </p:nvPicPr>
        <p:blipFill>
          <a:blip r:embed="rId5"/>
          <a:stretch>
            <a:fillRect/>
          </a:stretch>
        </p:blipFill>
        <p:spPr>
          <a:xfrm>
            <a:off x="9250475" y="3587250"/>
            <a:ext cx="2368338" cy="1419966"/>
          </a:xfrm>
          <a:prstGeom prst="rect">
            <a:avLst/>
          </a:prstGeom>
        </p:spPr>
      </p:pic>
      <p:sp>
        <p:nvSpPr>
          <p:cNvPr id="20" name="Content Placeholder 2">
            <a:extLst>
              <a:ext uri="{FF2B5EF4-FFF2-40B4-BE49-F238E27FC236}">
                <a16:creationId xmlns:a16="http://schemas.microsoft.com/office/drawing/2014/main" id="{B147E810-F8D9-8EDF-1358-D5F9C170D787}"/>
              </a:ext>
            </a:extLst>
          </p:cNvPr>
          <p:cNvSpPr txBox="1">
            <a:spLocks/>
          </p:cNvSpPr>
          <p:nvPr/>
        </p:nvSpPr>
        <p:spPr>
          <a:xfrm>
            <a:off x="2084040" y="2305631"/>
            <a:ext cx="7122352" cy="2999675"/>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r>
              <a:rPr lang="en-SG" sz="1200" dirty="0"/>
              <a:t>Part A</a:t>
            </a:r>
          </a:p>
          <a:p>
            <a:pPr lvl="1"/>
            <a:r>
              <a:rPr lang="en-US" sz="1000" b="1" dirty="0"/>
              <a:t>Torque (0.336) &amp; Rotation Speed (0.335)</a:t>
            </a:r>
            <a:r>
              <a:rPr lang="en-US" sz="1000" dirty="0"/>
              <a:t> → Most important; together contribute ~65% of model decisions; strong indicators of mechanical load.</a:t>
            </a:r>
          </a:p>
          <a:p>
            <a:pPr lvl="1"/>
            <a:r>
              <a:rPr lang="en-US" sz="1000" b="1" dirty="0"/>
              <a:t>Tool Wear (0.240)</a:t>
            </a:r>
            <a:r>
              <a:rPr lang="en-US" sz="1000" dirty="0"/>
              <a:t> → Also highly important; wear progression strongly linked to machine faults.</a:t>
            </a:r>
          </a:p>
          <a:p>
            <a:pPr lvl="1"/>
            <a:r>
              <a:rPr lang="en-US" sz="1000" b="1" dirty="0"/>
              <a:t>Temperatures (Ambient 0.055, Process 0.032)</a:t>
            </a:r>
            <a:r>
              <a:rPr lang="en-US" sz="1000" dirty="0"/>
              <a:t> → Low importance; weaker influence on machine status.</a:t>
            </a:r>
          </a:p>
          <a:p>
            <a:pPr lvl="1"/>
            <a:r>
              <a:rPr lang="en-US" sz="1000" b="1" dirty="0"/>
              <a:t>Quality (0.001)</a:t>
            </a:r>
            <a:r>
              <a:rPr lang="en-US" sz="1000" dirty="0"/>
              <a:t> → Almost no impact; not useful for predicting faults.</a:t>
            </a:r>
          </a:p>
          <a:p>
            <a:pPr lvl="1"/>
            <a:r>
              <a:rPr lang="en-US" sz="1000" b="1" dirty="0"/>
              <a:t>Overall:</a:t>
            </a:r>
            <a:r>
              <a:rPr lang="en-US" sz="1000" dirty="0"/>
              <a:t> Model relies mainly on </a:t>
            </a:r>
            <a:r>
              <a:rPr lang="en-US" sz="1000" b="1" dirty="0"/>
              <a:t>mechanical + wear-related features</a:t>
            </a:r>
            <a:r>
              <a:rPr lang="en-US" sz="1000" dirty="0"/>
              <a:t>, confirming these are key for fault detection.</a:t>
            </a:r>
          </a:p>
          <a:p>
            <a:r>
              <a:rPr lang="en-SG" sz="1200" dirty="0"/>
              <a:t>Part B</a:t>
            </a:r>
          </a:p>
          <a:p>
            <a:pPr lvl="1"/>
            <a:r>
              <a:rPr lang="en-US" sz="1000" b="1" dirty="0"/>
              <a:t>House Area (~63%)</a:t>
            </a:r>
            <a:r>
              <a:rPr lang="en-US" sz="1000" dirty="0"/>
              <a:t> → Most important; main driver of price differences.</a:t>
            </a:r>
          </a:p>
          <a:p>
            <a:pPr lvl="1"/>
            <a:r>
              <a:rPr lang="en-US" sz="1000" b="1" dirty="0"/>
              <a:t>No. of Toilets (~14%)</a:t>
            </a:r>
            <a:r>
              <a:rPr lang="en-US" sz="1000" dirty="0"/>
              <a:t> → Strong indicator of home value.</a:t>
            </a:r>
          </a:p>
          <a:p>
            <a:pPr lvl="1"/>
            <a:r>
              <a:rPr lang="en-US" sz="1000" b="1" dirty="0"/>
              <a:t>Renovation Status</a:t>
            </a:r>
            <a:r>
              <a:rPr lang="en-US" sz="1000" dirty="0"/>
              <a:t> → Meaningful but secondary; unfurnished has highest impact.</a:t>
            </a:r>
          </a:p>
          <a:p>
            <a:pPr lvl="1"/>
            <a:r>
              <a:rPr lang="en-US" sz="1000" b="1" dirty="0"/>
              <a:t>Bedrooms &amp; Stories</a:t>
            </a:r>
            <a:r>
              <a:rPr lang="en-US" sz="1000" dirty="0"/>
              <a:t> → Moderate contributors tied to size/livability.</a:t>
            </a:r>
          </a:p>
          <a:p>
            <a:pPr lvl="1"/>
            <a:r>
              <a:rPr lang="en-US" sz="1000" b="1" dirty="0"/>
              <a:t>City features (&lt;2%)</a:t>
            </a:r>
            <a:r>
              <a:rPr lang="en-US" sz="1000" dirty="0"/>
              <a:t> → Minimal influence compared to physical attributes.</a:t>
            </a:r>
          </a:p>
          <a:p>
            <a:pPr lvl="1"/>
            <a:r>
              <a:rPr lang="en-US" sz="1000" b="1" dirty="0"/>
              <a:t>Overall:</a:t>
            </a:r>
            <a:r>
              <a:rPr lang="en-US" sz="1000" dirty="0"/>
              <a:t> Price prediction is dominated by </a:t>
            </a:r>
            <a:r>
              <a:rPr lang="en-US" sz="1000" b="1" dirty="0"/>
              <a:t>structural and size-related features</a:t>
            </a:r>
            <a:r>
              <a:rPr lang="en-US" sz="1000" dirty="0"/>
              <a:t>, with location and renovation status playing smaller supporting roles.</a:t>
            </a:r>
          </a:p>
          <a:p>
            <a:pPr lvl="1"/>
            <a:endParaRPr lang="en-SG" sz="1000" dirty="0"/>
          </a:p>
        </p:txBody>
      </p:sp>
      <p:sp>
        <p:nvSpPr>
          <p:cNvPr id="22" name="TextBox 21">
            <a:extLst>
              <a:ext uri="{FF2B5EF4-FFF2-40B4-BE49-F238E27FC236}">
                <a16:creationId xmlns:a16="http://schemas.microsoft.com/office/drawing/2014/main" id="{80434724-3860-E7A7-B72A-B43B17089FDE}"/>
              </a:ext>
            </a:extLst>
          </p:cNvPr>
          <p:cNvSpPr txBox="1"/>
          <p:nvPr/>
        </p:nvSpPr>
        <p:spPr>
          <a:xfrm>
            <a:off x="586710" y="2003768"/>
            <a:ext cx="2109181" cy="646331"/>
          </a:xfrm>
          <a:prstGeom prst="rect">
            <a:avLst/>
          </a:prstGeom>
          <a:noFill/>
        </p:spPr>
        <p:txBody>
          <a:bodyPr wrap="square">
            <a:spAutoFit/>
          </a:bodyPr>
          <a:lstStyle/>
          <a:p>
            <a:r>
              <a:rPr lang="en-SG" dirty="0"/>
              <a:t>Feature Importance</a:t>
            </a:r>
          </a:p>
        </p:txBody>
      </p:sp>
    </p:spTree>
    <p:extLst>
      <p:ext uri="{BB962C8B-B14F-4D97-AF65-F5344CB8AC3E}">
        <p14:creationId xmlns:p14="http://schemas.microsoft.com/office/powerpoint/2010/main" val="3964791509"/>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284</TotalTime>
  <Words>1271</Words>
  <Application>Microsoft Office PowerPoint</Application>
  <PresentationFormat>Widescreen</PresentationFormat>
  <Paragraphs>92</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Century Gothic</vt:lpstr>
      <vt:lpstr>Wingdings 3</vt:lpstr>
      <vt:lpstr>Wisp</vt:lpstr>
      <vt:lpstr>ST1511 CA1: Machine Learning Workflow</vt:lpstr>
      <vt:lpstr>Problem Definition and Tasks</vt:lpstr>
      <vt:lpstr>Exploratory Data Analysis and Data Understanding</vt:lpstr>
      <vt:lpstr>Data Cleaning and Processing (Part A)</vt:lpstr>
      <vt:lpstr>PowerPoint Presentation</vt:lpstr>
      <vt:lpstr>Model evaluation (Part A)</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Ethan Chuwa</dc:creator>
  <cp:lastModifiedBy>Ethan Chuwa</cp:lastModifiedBy>
  <cp:revision>1</cp:revision>
  <dcterms:created xsi:type="dcterms:W3CDTF">2025-11-30T09:36:42Z</dcterms:created>
  <dcterms:modified xsi:type="dcterms:W3CDTF">2025-11-30T14:21:25Z</dcterms:modified>
</cp:coreProperties>
</file>